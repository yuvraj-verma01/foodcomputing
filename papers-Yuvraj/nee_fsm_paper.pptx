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658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1325880"/>
            <a:ext cx="9052560" cy="1143000"/>
          </a:xfrm>
          <a:prstGeom prst="rect">
            <a:avLst/>
          </a:prstGeom>
          <a:noFill/>
          <a:ln/>
        </p:spPr>
        <p:txBody>
          <a:bodyPr wrap="square" lIns="0" tIns="0" rIns="0" bIns="0" rtlCol="0" anchor="ctr">
            <a:normAutofit lnSpcReduction="10000"/>
          </a:bodyPr>
          <a:lstStyle/>
          <a:p>
            <a:pPr marL="0" indent="0">
              <a:buNone/>
            </a:pPr>
            <a:r>
              <a:rPr lang="en-US" sz="3900" b="1" dirty="0">
                <a:solidFill>
                  <a:srgbClr val="111111"/>
                </a:solidFill>
                <a:latin typeface="Aptos Display" pitchFamily="34" charset="0"/>
                <a:ea typeface="Aptos Display" pitchFamily="34" charset="-122"/>
                <a:cs typeface="Aptos Display" pitchFamily="34" charset="-120"/>
              </a:rPr>
              <a:t>Named Entity Extraction</a:t>
            </a:r>
            <a:endParaRPr lang="en-US" sz="3900" dirty="0"/>
          </a:p>
          <a:p>
            <a:pPr marL="0" indent="0">
              <a:buNone/>
            </a:pPr>
            <a:r>
              <a:rPr lang="en-US" sz="3900" b="1" dirty="0">
                <a:solidFill>
                  <a:srgbClr val="111111"/>
                </a:solidFill>
                <a:latin typeface="Aptos Display" pitchFamily="34" charset="0"/>
                <a:ea typeface="Aptos Display" pitchFamily="34" charset="-122"/>
                <a:cs typeface="Aptos Display" pitchFamily="34" charset="-120"/>
              </a:rPr>
              <a:t>for Food Safety Events Monitoring</a:t>
            </a:r>
            <a:endParaRPr lang="en-US" sz="3900" dirty="0"/>
          </a:p>
        </p:txBody>
      </p:sp>
      <p:sp>
        <p:nvSpPr>
          <p:cNvPr id="3" name="Shape 1"/>
          <p:cNvSpPr/>
          <p:nvPr/>
        </p:nvSpPr>
        <p:spPr>
          <a:xfrm>
            <a:off x="804672" y="2834640"/>
            <a:ext cx="2240280" cy="0"/>
          </a:xfrm>
          <a:prstGeom prst="line">
            <a:avLst/>
          </a:prstGeom>
          <a:noFill/>
          <a:ln w="15240">
            <a:solidFill>
              <a:srgbClr val="111111"/>
            </a:solidFill>
            <a:prstDash val="solid"/>
          </a:ln>
        </p:spPr>
      </p:sp>
      <p:sp>
        <p:nvSpPr>
          <p:cNvPr id="4" name="Text 2"/>
          <p:cNvSpPr/>
          <p:nvPr/>
        </p:nvSpPr>
        <p:spPr>
          <a:xfrm>
            <a:off x="777240" y="3127248"/>
            <a:ext cx="7040880" cy="274320"/>
          </a:xfrm>
          <a:prstGeom prst="rect">
            <a:avLst/>
          </a:prstGeom>
          <a:noFill/>
          <a:ln/>
        </p:spPr>
        <p:txBody>
          <a:bodyPr wrap="square" lIns="0" tIns="0" rIns="0" bIns="0" rtlCol="0" anchor="ctr"/>
          <a:lstStyle/>
          <a:p>
            <a:pPr marL="0" indent="0">
              <a:buNone/>
            </a:pPr>
            <a:endParaRPr lang="en-US" sz="1800" dirty="0"/>
          </a:p>
        </p:txBody>
      </p:sp>
      <p:sp>
        <p:nvSpPr>
          <p:cNvPr id="5" name="Text 3"/>
          <p:cNvSpPr/>
          <p:nvPr/>
        </p:nvSpPr>
        <p:spPr>
          <a:xfrm>
            <a:off x="804672" y="5532120"/>
            <a:ext cx="5303520" cy="256032"/>
          </a:xfrm>
          <a:prstGeom prst="rect">
            <a:avLst/>
          </a:prstGeom>
          <a:noFill/>
          <a:ln/>
        </p:spPr>
        <p:txBody>
          <a:bodyPr wrap="square" lIns="0" tIns="0" rIns="0" bIns="0" rtlCol="0" anchor="ctr"/>
          <a:lstStyle/>
          <a:p>
            <a:pPr marL="0" indent="0">
              <a:buNone/>
            </a:pPr>
            <a:endParaRPr lang="en-US" sz="1200" dirty="0"/>
          </a:p>
        </p:txBody>
      </p:sp>
      <p:sp>
        <p:nvSpPr>
          <p:cNvPr id="6" name="Text 4"/>
          <p:cNvSpPr/>
          <p:nvPr/>
        </p:nvSpPr>
        <p:spPr>
          <a:xfrm>
            <a:off x="804672" y="5806440"/>
            <a:ext cx="3474720" cy="201168"/>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384048"/>
            <a:ext cx="4206240" cy="164592"/>
          </a:xfrm>
          <a:prstGeom prst="rect">
            <a:avLst/>
          </a:prstGeom>
          <a:noFill/>
          <a:ln/>
        </p:spPr>
        <p:txBody>
          <a:bodyPr wrap="square" lIns="0" tIns="0" rIns="0" bIns="0" rtlCol="0" anchor="ctr"/>
          <a:lstStyle/>
          <a:p>
            <a:pPr marL="0" indent="0">
              <a:buNone/>
            </a:pPr>
            <a:endParaRPr lang="en-US" sz="850" dirty="0"/>
          </a:p>
        </p:txBody>
      </p:sp>
      <p:sp>
        <p:nvSpPr>
          <p:cNvPr id="3" name="Text 1"/>
          <p:cNvSpPr/>
          <p:nvPr/>
        </p:nvSpPr>
        <p:spPr>
          <a:xfrm>
            <a:off x="640080" y="658368"/>
            <a:ext cx="10789920" cy="502920"/>
          </a:xfrm>
          <a:prstGeom prst="rect">
            <a:avLst/>
          </a:prstGeom>
          <a:noFill/>
          <a:ln/>
        </p:spPr>
        <p:txBody>
          <a:bodyPr wrap="square" lIns="0" tIns="0" rIns="0" bIns="0" rtlCol="0" anchor="ctr">
            <a:normAutofit/>
          </a:bodyPr>
          <a:lstStyle/>
          <a:p>
            <a:pPr marL="0" indent="0">
              <a:buNone/>
            </a:pPr>
            <a:r>
              <a:rPr lang="en-US" sz="2700" b="1" dirty="0">
                <a:solidFill>
                  <a:srgbClr val="111111"/>
                </a:solidFill>
                <a:latin typeface="Aptos Display" pitchFamily="34" charset="0"/>
                <a:ea typeface="Aptos Display" pitchFamily="34" charset="-122"/>
                <a:cs typeface="Aptos Display" pitchFamily="34" charset="-120"/>
              </a:rPr>
              <a:t>Problem statement</a:t>
            </a:r>
            <a:endParaRPr lang="en-US" sz="2700" dirty="0"/>
          </a:p>
        </p:txBody>
      </p:sp>
      <p:sp>
        <p:nvSpPr>
          <p:cNvPr id="4" name="Text 2"/>
          <p:cNvSpPr/>
          <p:nvPr/>
        </p:nvSpPr>
        <p:spPr>
          <a:xfrm>
            <a:off x="658368" y="1417319"/>
            <a:ext cx="10698480" cy="2741929"/>
          </a:xfrm>
          <a:prstGeom prst="rect">
            <a:avLst/>
          </a:prstGeom>
          <a:noFill/>
          <a:ln/>
        </p:spPr>
        <p:txBody>
          <a:bodyPr wrap="square" lIns="0" tIns="0" rIns="0" bIns="0" rtlCol="0" anchor="ctr">
            <a:noAutofit/>
          </a:bodyPr>
          <a:lstStyle/>
          <a:p>
            <a:r>
              <a:rPr lang="en-IN" sz="2200" dirty="0"/>
              <a:t>Food safety information is often hidden in unstructured sources like news articles and customer feedback. Manually reading and extracting useful details from these texts is slow, inconsistent, and difficult, especially because food safety language contains specialised terms such as disease names, symptoms, foods, and locations and </a:t>
            </a:r>
            <a:r>
              <a:rPr lang="en-US" sz="2200" dirty="0">
                <a:solidFill>
                  <a:srgbClr val="111111"/>
                </a:solidFill>
                <a:latin typeface="Aptos" pitchFamily="34" charset="0"/>
              </a:rPr>
              <a:t> t</a:t>
            </a:r>
            <a:r>
              <a:rPr lang="en-US" sz="2200" dirty="0">
                <a:solidFill>
                  <a:srgbClr val="111111"/>
                </a:solidFill>
                <a:latin typeface="Aptos" pitchFamily="34" charset="0"/>
                <a:ea typeface="Aptos" pitchFamily="34" charset="-122"/>
                <a:cs typeface="Aptos" pitchFamily="34" charset="-120"/>
              </a:rPr>
              <a:t>here is </a:t>
            </a:r>
            <a:r>
              <a:rPr lang="en-US" sz="2200" b="1" dirty="0">
                <a:solidFill>
                  <a:srgbClr val="111111"/>
                </a:solidFill>
                <a:latin typeface="Aptos" pitchFamily="34" charset="0"/>
                <a:ea typeface="Aptos" pitchFamily="34" charset="-122"/>
                <a:cs typeface="Aptos" pitchFamily="34" charset="-120"/>
              </a:rPr>
              <a:t>no large labelled food-safety </a:t>
            </a:r>
            <a:r>
              <a:rPr lang="en-US" sz="2200" dirty="0">
                <a:solidFill>
                  <a:srgbClr val="111111"/>
                </a:solidFill>
                <a:latin typeface="Aptos" pitchFamily="34" charset="0"/>
                <a:ea typeface="Aptos" pitchFamily="34" charset="-122"/>
                <a:cs typeface="Aptos" pitchFamily="34" charset="-120"/>
              </a:rPr>
              <a:t>NER dataset available.</a:t>
            </a:r>
            <a:endParaRPr lang="en-US" sz="2200" dirty="0"/>
          </a:p>
          <a:p>
            <a:endParaRPr lang="en-US" sz="2200" dirty="0"/>
          </a:p>
        </p:txBody>
      </p:sp>
      <p:sp>
        <p:nvSpPr>
          <p:cNvPr id="6" name="Text 4"/>
          <p:cNvSpPr/>
          <p:nvPr/>
        </p:nvSpPr>
        <p:spPr>
          <a:xfrm>
            <a:off x="1216152" y="2185416"/>
            <a:ext cx="9573768" cy="292608"/>
          </a:xfrm>
          <a:prstGeom prst="rect">
            <a:avLst/>
          </a:prstGeom>
          <a:noFill/>
          <a:ln/>
        </p:spPr>
        <p:txBody>
          <a:bodyPr wrap="square" lIns="0" tIns="0" rIns="0" bIns="0" rtlCol="0" anchor="ctr">
            <a:normAutofit/>
          </a:bodyPr>
          <a:lstStyle/>
          <a:p>
            <a:pPr marL="0" indent="0">
              <a:buNone/>
            </a:pPr>
            <a:endParaRPr lang="en-US" sz="1700" dirty="0"/>
          </a:p>
        </p:txBody>
      </p:sp>
      <p:sp>
        <p:nvSpPr>
          <p:cNvPr id="8" name="Text 6"/>
          <p:cNvSpPr/>
          <p:nvPr/>
        </p:nvSpPr>
        <p:spPr>
          <a:xfrm>
            <a:off x="1038352" y="1403604"/>
            <a:ext cx="9573768" cy="292608"/>
          </a:xfrm>
          <a:prstGeom prst="rect">
            <a:avLst/>
          </a:prstGeom>
          <a:noFill/>
          <a:ln/>
        </p:spPr>
        <p:txBody>
          <a:bodyPr wrap="square" lIns="0" tIns="0" rIns="0" bIns="0" rtlCol="0" anchor="ctr">
            <a:normAutofit/>
          </a:bodyPr>
          <a:lstStyle/>
          <a:p>
            <a:pPr marL="0" indent="0">
              <a:buNone/>
            </a:pPr>
            <a:endParaRPr lang="en-US" sz="1700" dirty="0"/>
          </a:p>
        </p:txBody>
      </p:sp>
      <p:sp>
        <p:nvSpPr>
          <p:cNvPr id="10" name="Text 8"/>
          <p:cNvSpPr/>
          <p:nvPr/>
        </p:nvSpPr>
        <p:spPr>
          <a:xfrm>
            <a:off x="1216152" y="3191256"/>
            <a:ext cx="9573768" cy="292608"/>
          </a:xfrm>
          <a:prstGeom prst="rect">
            <a:avLst/>
          </a:prstGeom>
          <a:noFill/>
          <a:ln/>
        </p:spPr>
        <p:txBody>
          <a:bodyPr wrap="square" lIns="0" tIns="0" rIns="0" bIns="0" rtlCol="0" anchor="ctr">
            <a:normAutofit/>
          </a:bodyPr>
          <a:lstStyle/>
          <a:p>
            <a:pPr marL="0" indent="0">
              <a:buNone/>
            </a:pPr>
            <a:endParaRPr lang="en-US" sz="1700" dirty="0"/>
          </a:p>
        </p:txBody>
      </p:sp>
      <p:sp>
        <p:nvSpPr>
          <p:cNvPr id="12" name="Text 10"/>
          <p:cNvSpPr/>
          <p:nvPr/>
        </p:nvSpPr>
        <p:spPr>
          <a:xfrm>
            <a:off x="1216152" y="3694176"/>
            <a:ext cx="9573768" cy="292608"/>
          </a:xfrm>
          <a:prstGeom prst="rect">
            <a:avLst/>
          </a:prstGeom>
          <a:noFill/>
          <a:ln/>
        </p:spPr>
        <p:txBody>
          <a:bodyPr wrap="square" lIns="0" tIns="0" rIns="0" bIns="0" rtlCol="0" anchor="ctr">
            <a:normAutofit/>
          </a:bodyPr>
          <a:lstStyle/>
          <a:p>
            <a:pPr marL="0" indent="0">
              <a:buNone/>
            </a:pPr>
            <a:endParaRPr lang="en-US" sz="1700" dirty="0"/>
          </a:p>
        </p:txBody>
      </p:sp>
      <p:sp>
        <p:nvSpPr>
          <p:cNvPr id="13" name="Shape 11"/>
          <p:cNvSpPr/>
          <p:nvPr/>
        </p:nvSpPr>
        <p:spPr>
          <a:xfrm>
            <a:off x="841248" y="4116068"/>
            <a:ext cx="10424160" cy="0"/>
          </a:xfrm>
          <a:prstGeom prst="line">
            <a:avLst/>
          </a:prstGeom>
          <a:noFill/>
          <a:ln w="12700">
            <a:solidFill>
              <a:srgbClr val="E6E6E6"/>
            </a:solidFill>
            <a:prstDash val="solid"/>
          </a:ln>
        </p:spPr>
      </p:sp>
      <p:sp>
        <p:nvSpPr>
          <p:cNvPr id="14" name="Text 12"/>
          <p:cNvSpPr/>
          <p:nvPr/>
        </p:nvSpPr>
        <p:spPr>
          <a:xfrm>
            <a:off x="932688" y="4369560"/>
            <a:ext cx="1463040" cy="219456"/>
          </a:xfrm>
          <a:prstGeom prst="rect">
            <a:avLst/>
          </a:prstGeom>
          <a:noFill/>
          <a:ln/>
        </p:spPr>
        <p:txBody>
          <a:bodyPr wrap="square" lIns="0" tIns="0" rIns="0" bIns="0" rtlCol="0" anchor="ctr"/>
          <a:lstStyle/>
          <a:p>
            <a:pPr marL="0" indent="0">
              <a:buNone/>
            </a:pPr>
            <a:r>
              <a:rPr lang="en-US" sz="1300" b="1" dirty="0">
                <a:solidFill>
                  <a:srgbClr val="666666"/>
                </a:solidFill>
                <a:latin typeface="Aptos" pitchFamily="34" charset="0"/>
                <a:ea typeface="Aptos" pitchFamily="34" charset="-122"/>
                <a:cs typeface="Aptos" pitchFamily="34" charset="-120"/>
              </a:rPr>
              <a:t>Core task</a:t>
            </a:r>
            <a:endParaRPr lang="en-US" sz="1300" dirty="0"/>
          </a:p>
        </p:txBody>
      </p:sp>
      <p:sp>
        <p:nvSpPr>
          <p:cNvPr id="15" name="Text 13"/>
          <p:cNvSpPr/>
          <p:nvPr/>
        </p:nvSpPr>
        <p:spPr>
          <a:xfrm>
            <a:off x="932688" y="4717032"/>
            <a:ext cx="9966960" cy="310896"/>
          </a:xfrm>
          <a:prstGeom prst="rect">
            <a:avLst/>
          </a:prstGeom>
          <a:noFill/>
          <a:ln/>
        </p:spPr>
        <p:txBody>
          <a:bodyPr wrap="square" lIns="0" tIns="0" rIns="0" bIns="0" rtlCol="0" anchor="ctr">
            <a:normAutofit/>
          </a:bodyPr>
          <a:lstStyle/>
          <a:p>
            <a:pPr marL="0" indent="0">
              <a:buNone/>
            </a:pPr>
            <a:r>
              <a:rPr lang="en-US" sz="1800" b="1" dirty="0">
                <a:solidFill>
                  <a:srgbClr val="111111"/>
                </a:solidFill>
                <a:latin typeface="Aptos" pitchFamily="34" charset="0"/>
                <a:ea typeface="Aptos" pitchFamily="34" charset="-122"/>
                <a:cs typeface="Aptos" pitchFamily="34" charset="-120"/>
              </a:rPr>
              <a:t>Automatically extract food-safety entities</a:t>
            </a:r>
            <a:r>
              <a:rPr lang="en-US" sz="1800" dirty="0">
                <a:solidFill>
                  <a:srgbClr val="111111"/>
                </a:solidFill>
                <a:latin typeface="Aptos" pitchFamily="34" charset="0"/>
                <a:ea typeface="Aptos" pitchFamily="34" charset="-122"/>
                <a:cs typeface="Aptos" pitchFamily="34" charset="-120"/>
              </a:rPr>
              <a:t> such as Disease, Food, Location, and Symptom.</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384048"/>
            <a:ext cx="4206240" cy="164592"/>
          </a:xfrm>
          <a:prstGeom prst="rect">
            <a:avLst/>
          </a:prstGeom>
          <a:noFill/>
          <a:ln/>
        </p:spPr>
        <p:txBody>
          <a:bodyPr wrap="square" lIns="0" tIns="0" rIns="0" bIns="0" rtlCol="0" anchor="ctr"/>
          <a:lstStyle/>
          <a:p>
            <a:pPr marL="0" indent="0">
              <a:buNone/>
            </a:pPr>
            <a:endParaRPr lang="en-US" sz="850" dirty="0"/>
          </a:p>
        </p:txBody>
      </p:sp>
      <p:sp>
        <p:nvSpPr>
          <p:cNvPr id="3" name="Text 1"/>
          <p:cNvSpPr/>
          <p:nvPr/>
        </p:nvSpPr>
        <p:spPr>
          <a:xfrm>
            <a:off x="640080" y="658368"/>
            <a:ext cx="10789920" cy="502920"/>
          </a:xfrm>
          <a:prstGeom prst="rect">
            <a:avLst/>
          </a:prstGeom>
          <a:noFill/>
          <a:ln/>
        </p:spPr>
        <p:txBody>
          <a:bodyPr wrap="square" lIns="0" tIns="0" rIns="0" bIns="0" rtlCol="0" anchor="ctr">
            <a:normAutofit/>
          </a:bodyPr>
          <a:lstStyle/>
          <a:p>
            <a:pPr marL="0" indent="0">
              <a:buNone/>
            </a:pPr>
            <a:r>
              <a:rPr lang="en-US" sz="2700" b="1" dirty="0">
                <a:solidFill>
                  <a:srgbClr val="111111"/>
                </a:solidFill>
                <a:latin typeface="Aptos Display" pitchFamily="34" charset="0"/>
                <a:ea typeface="Aptos Display" pitchFamily="34" charset="-122"/>
                <a:cs typeface="Aptos Display" pitchFamily="34" charset="-120"/>
              </a:rPr>
              <a:t>Where this paper fits</a:t>
            </a:r>
            <a:endParaRPr lang="en-US" sz="2700" dirty="0"/>
          </a:p>
        </p:txBody>
      </p:sp>
      <p:sp>
        <p:nvSpPr>
          <p:cNvPr id="4" name="Text 2"/>
          <p:cNvSpPr/>
          <p:nvPr/>
        </p:nvSpPr>
        <p:spPr>
          <a:xfrm>
            <a:off x="658368" y="1298448"/>
            <a:ext cx="10515600" cy="530352"/>
          </a:xfrm>
          <a:prstGeom prst="rect">
            <a:avLst/>
          </a:prstGeom>
          <a:noFill/>
          <a:ln/>
        </p:spPr>
        <p:txBody>
          <a:bodyPr wrap="square" lIns="0" tIns="0" rIns="0" bIns="0" rtlCol="0" anchor="ctr">
            <a:normAutofit fontScale="92500" lnSpcReduction="10000"/>
          </a:bodyPr>
          <a:lstStyle/>
          <a:p>
            <a:pPr marL="0" indent="0">
              <a:buNone/>
            </a:pPr>
            <a:r>
              <a:rPr lang="en-US" sz="2000" b="1" dirty="0">
                <a:solidFill>
                  <a:srgbClr val="111111"/>
                </a:solidFill>
                <a:latin typeface="Aptos" pitchFamily="34" charset="0"/>
                <a:ea typeface="Aptos" pitchFamily="34" charset="-122"/>
                <a:cs typeface="Aptos" pitchFamily="34" charset="-120"/>
              </a:rPr>
              <a:t>The larger SFA-FSM system monitors food safety news and feedback. This paper focuses on the Named Entity Extraction component inside that system.</a:t>
            </a:r>
            <a:endParaRPr lang="en-US" sz="2000" dirty="0"/>
          </a:p>
        </p:txBody>
      </p:sp>
      <p:sp>
        <p:nvSpPr>
          <p:cNvPr id="5" name="Shape 3"/>
          <p:cNvSpPr/>
          <p:nvPr/>
        </p:nvSpPr>
        <p:spPr>
          <a:xfrm>
            <a:off x="822960" y="2423160"/>
            <a:ext cx="2057400" cy="868680"/>
          </a:xfrm>
          <a:prstGeom prst="roundRect">
            <a:avLst>
              <a:gd name="adj" fmla="val 8421"/>
            </a:avLst>
          </a:prstGeom>
          <a:solidFill>
            <a:srgbClr val="FFFFFF"/>
          </a:solidFill>
          <a:ln w="13335">
            <a:solidFill>
              <a:srgbClr val="111111"/>
            </a:solidFill>
            <a:prstDash val="solid"/>
          </a:ln>
        </p:spPr>
      </p:sp>
      <p:sp>
        <p:nvSpPr>
          <p:cNvPr id="6" name="Text 4"/>
          <p:cNvSpPr/>
          <p:nvPr/>
        </p:nvSpPr>
        <p:spPr>
          <a:xfrm>
            <a:off x="960120" y="2514600"/>
            <a:ext cx="1783080" cy="685800"/>
          </a:xfrm>
          <a:prstGeom prst="rect">
            <a:avLst/>
          </a:prstGeom>
          <a:noFill/>
          <a:ln/>
        </p:spPr>
        <p:txBody>
          <a:bodyPr wrap="square" lIns="0" tIns="0" rIns="0" bIns="0" rtlCol="0" anchor="ctr">
            <a:normAutofit/>
          </a:bodyPr>
          <a:lstStyle/>
          <a:p>
            <a:pPr marL="0" indent="0" algn="ctr">
              <a:buNone/>
            </a:pPr>
            <a:r>
              <a:rPr lang="en-US" sz="1500" dirty="0">
                <a:solidFill>
                  <a:srgbClr val="111111"/>
                </a:solidFill>
                <a:latin typeface="Aptos" pitchFamily="34" charset="0"/>
                <a:ea typeface="Aptos" pitchFamily="34" charset="-122"/>
                <a:cs typeface="Aptos" pitchFamily="34" charset="-120"/>
              </a:rPr>
              <a:t>News articles</a:t>
            </a:r>
            <a:endParaRPr lang="en-US" sz="1500" dirty="0"/>
          </a:p>
          <a:p>
            <a:pPr marL="0" indent="0" algn="ctr">
              <a:buNone/>
            </a:pPr>
            <a:r>
              <a:rPr lang="en-US" sz="1500" dirty="0">
                <a:solidFill>
                  <a:srgbClr val="111111"/>
                </a:solidFill>
                <a:latin typeface="Aptos" pitchFamily="34" charset="0"/>
                <a:ea typeface="Aptos" pitchFamily="34" charset="-122"/>
                <a:cs typeface="Aptos" pitchFamily="34" charset="-120"/>
              </a:rPr>
              <a:t>&amp; feedback</a:t>
            </a:r>
            <a:endParaRPr lang="en-US" sz="1500" dirty="0"/>
          </a:p>
        </p:txBody>
      </p:sp>
      <p:sp>
        <p:nvSpPr>
          <p:cNvPr id="7" name="Shape 5"/>
          <p:cNvSpPr/>
          <p:nvPr/>
        </p:nvSpPr>
        <p:spPr>
          <a:xfrm>
            <a:off x="2971800" y="2862072"/>
            <a:ext cx="1005840" cy="0"/>
          </a:xfrm>
          <a:prstGeom prst="line">
            <a:avLst/>
          </a:prstGeom>
          <a:noFill/>
          <a:ln w="13970">
            <a:solidFill>
              <a:srgbClr val="666666"/>
            </a:solidFill>
            <a:prstDash val="solid"/>
            <a:headEnd type="none"/>
            <a:tailEnd type="triangle"/>
          </a:ln>
        </p:spPr>
      </p:sp>
      <p:sp>
        <p:nvSpPr>
          <p:cNvPr id="8" name="Shape 6"/>
          <p:cNvSpPr/>
          <p:nvPr/>
        </p:nvSpPr>
        <p:spPr>
          <a:xfrm>
            <a:off x="4069080" y="2423160"/>
            <a:ext cx="2148840" cy="868680"/>
          </a:xfrm>
          <a:prstGeom prst="roundRect">
            <a:avLst>
              <a:gd name="adj" fmla="val 8421"/>
            </a:avLst>
          </a:prstGeom>
          <a:solidFill>
            <a:srgbClr val="FFFFFF"/>
          </a:solidFill>
          <a:ln w="13335">
            <a:solidFill>
              <a:srgbClr val="111111"/>
            </a:solidFill>
            <a:prstDash val="solid"/>
          </a:ln>
        </p:spPr>
      </p:sp>
      <p:sp>
        <p:nvSpPr>
          <p:cNvPr id="9" name="Text 7"/>
          <p:cNvSpPr/>
          <p:nvPr/>
        </p:nvSpPr>
        <p:spPr>
          <a:xfrm>
            <a:off x="4206240" y="2514600"/>
            <a:ext cx="1874520" cy="685800"/>
          </a:xfrm>
          <a:prstGeom prst="rect">
            <a:avLst/>
          </a:prstGeom>
          <a:noFill/>
          <a:ln/>
        </p:spPr>
        <p:txBody>
          <a:bodyPr wrap="square" lIns="0" tIns="0" rIns="0" bIns="0" rtlCol="0" anchor="ctr">
            <a:normAutofit/>
          </a:bodyPr>
          <a:lstStyle/>
          <a:p>
            <a:pPr marL="0" indent="0" algn="ctr">
              <a:buNone/>
            </a:pPr>
            <a:r>
              <a:rPr lang="en-US" sz="1500" b="1" dirty="0">
                <a:solidFill>
                  <a:srgbClr val="111111"/>
                </a:solidFill>
                <a:latin typeface="Aptos" pitchFamily="34" charset="0"/>
                <a:ea typeface="Aptos" pitchFamily="34" charset="-122"/>
                <a:cs typeface="Aptos" pitchFamily="34" charset="-120"/>
              </a:rPr>
              <a:t>Named Entity</a:t>
            </a:r>
            <a:endParaRPr lang="en-US" sz="1500" dirty="0"/>
          </a:p>
          <a:p>
            <a:pPr marL="0" indent="0" algn="ctr">
              <a:buNone/>
            </a:pPr>
            <a:r>
              <a:rPr lang="en-US" sz="1500" b="1" dirty="0">
                <a:solidFill>
                  <a:srgbClr val="111111"/>
                </a:solidFill>
                <a:latin typeface="Aptos" pitchFamily="34" charset="0"/>
                <a:ea typeface="Aptos" pitchFamily="34" charset="-122"/>
                <a:cs typeface="Aptos" pitchFamily="34" charset="-120"/>
              </a:rPr>
              <a:t>Extraction</a:t>
            </a:r>
            <a:endParaRPr lang="en-US" sz="1500" dirty="0"/>
          </a:p>
        </p:txBody>
      </p:sp>
      <p:sp>
        <p:nvSpPr>
          <p:cNvPr id="10" name="Shape 8"/>
          <p:cNvSpPr/>
          <p:nvPr/>
        </p:nvSpPr>
        <p:spPr>
          <a:xfrm>
            <a:off x="6309360" y="2862072"/>
            <a:ext cx="1005840" cy="0"/>
          </a:xfrm>
          <a:prstGeom prst="line">
            <a:avLst/>
          </a:prstGeom>
          <a:noFill/>
          <a:ln w="13970">
            <a:solidFill>
              <a:srgbClr val="666666"/>
            </a:solidFill>
            <a:prstDash val="solid"/>
            <a:headEnd type="none"/>
            <a:tailEnd type="triangle"/>
          </a:ln>
        </p:spPr>
      </p:sp>
      <p:sp>
        <p:nvSpPr>
          <p:cNvPr id="11" name="Shape 9"/>
          <p:cNvSpPr/>
          <p:nvPr/>
        </p:nvSpPr>
        <p:spPr>
          <a:xfrm>
            <a:off x="7406640" y="2423160"/>
            <a:ext cx="2331720" cy="868680"/>
          </a:xfrm>
          <a:prstGeom prst="roundRect">
            <a:avLst>
              <a:gd name="adj" fmla="val 8421"/>
            </a:avLst>
          </a:prstGeom>
          <a:solidFill>
            <a:srgbClr val="FFFFFF"/>
          </a:solidFill>
          <a:ln w="13335">
            <a:solidFill>
              <a:srgbClr val="111111"/>
            </a:solidFill>
            <a:prstDash val="solid"/>
          </a:ln>
        </p:spPr>
      </p:sp>
      <p:sp>
        <p:nvSpPr>
          <p:cNvPr id="12" name="Text 10"/>
          <p:cNvSpPr/>
          <p:nvPr/>
        </p:nvSpPr>
        <p:spPr>
          <a:xfrm>
            <a:off x="7543800" y="2514600"/>
            <a:ext cx="2057400" cy="685800"/>
          </a:xfrm>
          <a:prstGeom prst="rect">
            <a:avLst/>
          </a:prstGeom>
          <a:noFill/>
          <a:ln/>
        </p:spPr>
        <p:txBody>
          <a:bodyPr wrap="square" lIns="0" tIns="0" rIns="0" bIns="0" rtlCol="0" anchor="ctr">
            <a:normAutofit/>
          </a:bodyPr>
          <a:lstStyle/>
          <a:p>
            <a:pPr marL="0" indent="0" algn="ctr">
              <a:buNone/>
            </a:pPr>
            <a:r>
              <a:rPr lang="en-US" sz="1500" dirty="0">
                <a:solidFill>
                  <a:srgbClr val="111111"/>
                </a:solidFill>
                <a:latin typeface="Aptos" pitchFamily="34" charset="0"/>
                <a:ea typeface="Aptos" pitchFamily="34" charset="-122"/>
                <a:cs typeface="Aptos" pitchFamily="34" charset="-120"/>
              </a:rPr>
              <a:t>Event attributes</a:t>
            </a:r>
            <a:endParaRPr lang="en-US" sz="1500" dirty="0"/>
          </a:p>
          <a:p>
            <a:pPr marL="0" indent="0" algn="ctr">
              <a:buNone/>
            </a:pPr>
            <a:r>
              <a:rPr lang="en-US" sz="1500" dirty="0">
                <a:solidFill>
                  <a:srgbClr val="111111"/>
                </a:solidFill>
                <a:latin typeface="Aptos" pitchFamily="34" charset="0"/>
                <a:ea typeface="Aptos" pitchFamily="34" charset="-122"/>
                <a:cs typeface="Aptos" pitchFamily="34" charset="-120"/>
              </a:rPr>
              <a:t>for monitoring</a:t>
            </a:r>
            <a:endParaRPr lang="en-US" sz="1500" dirty="0"/>
          </a:p>
        </p:txBody>
      </p:sp>
      <p:sp>
        <p:nvSpPr>
          <p:cNvPr id="13" name="Shape 11"/>
          <p:cNvSpPr/>
          <p:nvPr/>
        </p:nvSpPr>
        <p:spPr>
          <a:xfrm>
            <a:off x="9829800" y="2862072"/>
            <a:ext cx="640080" cy="0"/>
          </a:xfrm>
          <a:prstGeom prst="line">
            <a:avLst/>
          </a:prstGeom>
          <a:noFill/>
          <a:ln w="13970">
            <a:solidFill>
              <a:srgbClr val="666666"/>
            </a:solidFill>
            <a:prstDash val="solid"/>
            <a:headEnd type="none"/>
            <a:tailEnd type="triangle"/>
          </a:ln>
        </p:spPr>
      </p:sp>
      <p:sp>
        <p:nvSpPr>
          <p:cNvPr id="14" name="Shape 12"/>
          <p:cNvSpPr/>
          <p:nvPr/>
        </p:nvSpPr>
        <p:spPr>
          <a:xfrm>
            <a:off x="10561320" y="2423160"/>
            <a:ext cx="1188720" cy="868680"/>
          </a:xfrm>
          <a:prstGeom prst="roundRect">
            <a:avLst>
              <a:gd name="adj" fmla="val 8421"/>
            </a:avLst>
          </a:prstGeom>
          <a:solidFill>
            <a:srgbClr val="FFFFFF"/>
          </a:solidFill>
          <a:ln w="13335">
            <a:solidFill>
              <a:srgbClr val="111111"/>
            </a:solidFill>
            <a:prstDash val="solid"/>
          </a:ln>
        </p:spPr>
      </p:sp>
      <p:sp>
        <p:nvSpPr>
          <p:cNvPr id="15" name="Text 13"/>
          <p:cNvSpPr/>
          <p:nvPr/>
        </p:nvSpPr>
        <p:spPr>
          <a:xfrm>
            <a:off x="10698480" y="2514600"/>
            <a:ext cx="914400" cy="685800"/>
          </a:xfrm>
          <a:prstGeom prst="rect">
            <a:avLst/>
          </a:prstGeom>
          <a:noFill/>
          <a:ln/>
        </p:spPr>
        <p:txBody>
          <a:bodyPr wrap="square" lIns="0" tIns="0" rIns="0" bIns="0" rtlCol="0" anchor="ctr">
            <a:normAutofit/>
          </a:bodyPr>
          <a:lstStyle/>
          <a:p>
            <a:pPr marL="0" indent="0" algn="ctr">
              <a:buNone/>
            </a:pPr>
            <a:r>
              <a:rPr lang="en-US" sz="1200" dirty="0">
                <a:solidFill>
                  <a:srgbClr val="111111"/>
                </a:solidFill>
                <a:latin typeface="Aptos" pitchFamily="34" charset="0"/>
                <a:ea typeface="Aptos" pitchFamily="34" charset="-122"/>
                <a:cs typeface="Aptos" pitchFamily="34" charset="-120"/>
              </a:rPr>
              <a:t>Search, trends,</a:t>
            </a:r>
            <a:endParaRPr lang="en-US" sz="1200" dirty="0"/>
          </a:p>
          <a:p>
            <a:pPr marL="0" indent="0" algn="ctr">
              <a:buNone/>
            </a:pPr>
            <a:r>
              <a:rPr lang="en-US" sz="1200" dirty="0">
                <a:solidFill>
                  <a:srgbClr val="111111"/>
                </a:solidFill>
                <a:latin typeface="Aptos" pitchFamily="34" charset="0"/>
                <a:ea typeface="Aptos" pitchFamily="34" charset="-122"/>
                <a:cs typeface="Aptos" pitchFamily="34" charset="-120"/>
              </a:rPr>
              <a:t>visualization</a:t>
            </a:r>
            <a:endParaRPr lang="en-US" sz="1200" dirty="0"/>
          </a:p>
        </p:txBody>
      </p:sp>
      <p:sp>
        <p:nvSpPr>
          <p:cNvPr id="16" name="Text 14"/>
          <p:cNvSpPr/>
          <p:nvPr/>
        </p:nvSpPr>
        <p:spPr>
          <a:xfrm>
            <a:off x="987552" y="4160520"/>
            <a:ext cx="9966960" cy="329184"/>
          </a:xfrm>
          <a:prstGeom prst="rect">
            <a:avLst/>
          </a:prstGeom>
          <a:noFill/>
          <a:ln/>
        </p:spPr>
        <p:txBody>
          <a:bodyPr wrap="square" lIns="0" tIns="0" rIns="0" bIns="0" rtlCol="0" anchor="ctr">
            <a:normAutofit/>
          </a:bodyPr>
          <a:lstStyle/>
          <a:p>
            <a:pPr marL="0" indent="0">
              <a:buNone/>
            </a:pPr>
            <a:endParaRPr lang="en-US" sz="1800" dirty="0"/>
          </a:p>
        </p:txBody>
      </p:sp>
      <p:sp>
        <p:nvSpPr>
          <p:cNvPr id="17" name="Text 15"/>
          <p:cNvSpPr/>
          <p:nvPr/>
        </p:nvSpPr>
        <p:spPr>
          <a:xfrm>
            <a:off x="987552" y="4718304"/>
            <a:ext cx="9418320" cy="256032"/>
          </a:xfrm>
          <a:prstGeom prst="rect">
            <a:avLst/>
          </a:prstGeom>
          <a:noFill/>
          <a:ln/>
        </p:spPr>
        <p:txBody>
          <a:bodyPr wrap="square" lIns="0" tIns="0" rIns="0" bIns="0" rtlCol="0" anchor="ctr"/>
          <a:lstStyle/>
          <a:p>
            <a:pPr marL="0" indent="0">
              <a:buNone/>
            </a:pPr>
            <a:r>
              <a:rPr lang="en-US" sz="1600" b="1" dirty="0">
                <a:latin typeface="Aptos" pitchFamily="34" charset="0"/>
                <a:ea typeface="Aptos" pitchFamily="34" charset="-122"/>
                <a:cs typeface="Aptos" pitchFamily="34" charset="-120"/>
              </a:rPr>
              <a:t>Extraction categories: Disease · Food · Location · Symptom</a:t>
            </a:r>
            <a:endParaRPr lang="en-US" sz="1600" b="1" dirty="0"/>
          </a:p>
        </p:txBody>
      </p:sp>
      <p:sp>
        <p:nvSpPr>
          <p:cNvPr id="18" name="Text 16"/>
          <p:cNvSpPr/>
          <p:nvPr/>
        </p:nvSpPr>
        <p:spPr>
          <a:xfrm>
            <a:off x="502920" y="6510528"/>
            <a:ext cx="6217920" cy="164592"/>
          </a:xfrm>
          <a:prstGeom prst="rect">
            <a:avLst/>
          </a:prstGeom>
          <a:noFill/>
          <a:ln/>
        </p:spPr>
        <p:txBody>
          <a:bodyPr wrap="square" lIns="0" tIns="0" rIns="0" bIns="0" rtlCol="0" anchor="ctr"/>
          <a:lstStyle/>
          <a:p>
            <a:pPr marL="0" indent="0">
              <a:buNone/>
            </a:pP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384048"/>
            <a:ext cx="4206240" cy="164592"/>
          </a:xfrm>
          <a:prstGeom prst="rect">
            <a:avLst/>
          </a:prstGeom>
          <a:noFill/>
          <a:ln/>
        </p:spPr>
        <p:txBody>
          <a:bodyPr wrap="square" lIns="0" tIns="0" rIns="0" bIns="0" rtlCol="0" anchor="ctr"/>
          <a:lstStyle/>
          <a:p>
            <a:pPr marL="0" indent="0">
              <a:buNone/>
            </a:pPr>
            <a:endParaRPr lang="en-US" sz="850" dirty="0"/>
          </a:p>
        </p:txBody>
      </p:sp>
      <p:sp>
        <p:nvSpPr>
          <p:cNvPr id="3" name="Text 1"/>
          <p:cNvSpPr/>
          <p:nvPr/>
        </p:nvSpPr>
        <p:spPr>
          <a:xfrm>
            <a:off x="640080" y="658368"/>
            <a:ext cx="10789920" cy="502920"/>
          </a:xfrm>
          <a:prstGeom prst="rect">
            <a:avLst/>
          </a:prstGeom>
          <a:noFill/>
          <a:ln/>
        </p:spPr>
        <p:txBody>
          <a:bodyPr wrap="square" lIns="0" tIns="0" rIns="0" bIns="0" rtlCol="0" anchor="ctr">
            <a:normAutofit/>
          </a:bodyPr>
          <a:lstStyle/>
          <a:p>
            <a:pPr marL="0" indent="0">
              <a:buNone/>
            </a:pPr>
            <a:r>
              <a:rPr lang="en-US" sz="2700" b="1" dirty="0">
                <a:solidFill>
                  <a:srgbClr val="111111"/>
                </a:solidFill>
                <a:latin typeface="Aptos Display" pitchFamily="34" charset="0"/>
                <a:ea typeface="Aptos Display" pitchFamily="34" charset="-122"/>
                <a:cs typeface="Aptos Display" pitchFamily="34" charset="-120"/>
              </a:rPr>
              <a:t>Method overview: NEE-FSM</a:t>
            </a:r>
            <a:endParaRPr lang="en-US" sz="2700" dirty="0"/>
          </a:p>
        </p:txBody>
      </p:sp>
      <p:sp>
        <p:nvSpPr>
          <p:cNvPr id="4" name="Text 2"/>
          <p:cNvSpPr/>
          <p:nvPr/>
        </p:nvSpPr>
        <p:spPr>
          <a:xfrm>
            <a:off x="658368" y="1325880"/>
            <a:ext cx="8046720" cy="310896"/>
          </a:xfrm>
          <a:prstGeom prst="rect">
            <a:avLst/>
          </a:prstGeom>
          <a:noFill/>
          <a:ln/>
        </p:spPr>
        <p:txBody>
          <a:bodyPr wrap="square" lIns="0" tIns="0" rIns="0" bIns="0" rtlCol="0" anchor="ctr"/>
          <a:lstStyle/>
          <a:p>
            <a:pPr marL="0" indent="0">
              <a:buNone/>
            </a:pPr>
            <a:r>
              <a:rPr lang="en-US" sz="2000" b="1" dirty="0">
                <a:solidFill>
                  <a:srgbClr val="111111"/>
                </a:solidFill>
                <a:latin typeface="Aptos" pitchFamily="34" charset="0"/>
                <a:ea typeface="Aptos" pitchFamily="34" charset="-122"/>
                <a:cs typeface="Aptos" pitchFamily="34" charset="-120"/>
              </a:rPr>
              <a:t>The paper combines curated dictionary with NER coverage.</a:t>
            </a:r>
            <a:endParaRPr lang="en-US" sz="2000" dirty="0"/>
          </a:p>
        </p:txBody>
      </p:sp>
      <p:sp>
        <p:nvSpPr>
          <p:cNvPr id="5" name="Shape 3"/>
          <p:cNvSpPr/>
          <p:nvPr/>
        </p:nvSpPr>
        <p:spPr>
          <a:xfrm>
            <a:off x="777240" y="2331720"/>
            <a:ext cx="1417320" cy="914400"/>
          </a:xfrm>
          <a:prstGeom prst="roundRect">
            <a:avLst>
              <a:gd name="adj" fmla="val 8000"/>
            </a:avLst>
          </a:prstGeom>
          <a:solidFill>
            <a:srgbClr val="FFFFFF"/>
          </a:solidFill>
          <a:ln w="13335">
            <a:solidFill>
              <a:srgbClr val="111111"/>
            </a:solidFill>
            <a:prstDash val="solid"/>
          </a:ln>
        </p:spPr>
      </p:sp>
      <p:sp>
        <p:nvSpPr>
          <p:cNvPr id="6" name="Text 4"/>
          <p:cNvSpPr/>
          <p:nvPr/>
        </p:nvSpPr>
        <p:spPr>
          <a:xfrm>
            <a:off x="914400" y="2423160"/>
            <a:ext cx="1143000" cy="731520"/>
          </a:xfrm>
          <a:prstGeom prst="rect">
            <a:avLst/>
          </a:prstGeom>
          <a:noFill/>
          <a:ln/>
        </p:spPr>
        <p:txBody>
          <a:bodyPr wrap="square" lIns="0" tIns="0" rIns="0" bIns="0" rtlCol="0" anchor="ctr">
            <a:normAutofit/>
          </a:bodyPr>
          <a:lstStyle/>
          <a:p>
            <a:pPr marL="0" indent="0" algn="ctr">
              <a:buNone/>
            </a:pPr>
            <a:r>
              <a:rPr lang="en-US" sz="1800" b="1" dirty="0">
                <a:solidFill>
                  <a:srgbClr val="111111"/>
                </a:solidFill>
                <a:latin typeface="Aptos" pitchFamily="34" charset="0"/>
                <a:ea typeface="Aptos" pitchFamily="34" charset="-122"/>
                <a:cs typeface="Aptos" pitchFamily="34" charset="-120"/>
              </a:rPr>
              <a:t>1</a:t>
            </a:r>
            <a:endParaRPr lang="en-US" sz="1800" dirty="0"/>
          </a:p>
          <a:p>
            <a:pPr marL="0" indent="0" algn="ctr">
              <a:buNone/>
            </a:pPr>
            <a:r>
              <a:rPr lang="en-US" sz="1800" b="1" dirty="0">
                <a:solidFill>
                  <a:srgbClr val="111111"/>
                </a:solidFill>
                <a:latin typeface="Aptos" pitchFamily="34" charset="0"/>
                <a:ea typeface="Aptos" pitchFamily="34" charset="-122"/>
                <a:cs typeface="Aptos" pitchFamily="34" charset="-120"/>
              </a:rPr>
              <a:t>HEE</a:t>
            </a:r>
            <a:endParaRPr lang="en-US" sz="1800" dirty="0"/>
          </a:p>
        </p:txBody>
      </p:sp>
      <p:sp>
        <p:nvSpPr>
          <p:cNvPr id="7" name="Text 5"/>
          <p:cNvSpPr/>
          <p:nvPr/>
        </p:nvSpPr>
        <p:spPr>
          <a:xfrm>
            <a:off x="2423160" y="2423160"/>
            <a:ext cx="2240280" cy="658368"/>
          </a:xfrm>
          <a:prstGeom prst="rect">
            <a:avLst/>
          </a:prstGeom>
          <a:noFill/>
          <a:ln/>
        </p:spPr>
        <p:txBody>
          <a:bodyPr wrap="square" lIns="0" tIns="0" rIns="0" bIns="0" rtlCol="0" anchor="ctr">
            <a:normAutofit/>
          </a:bodyPr>
          <a:lstStyle/>
          <a:p>
            <a:pPr marL="0" indent="0">
              <a:buNone/>
            </a:pPr>
            <a:r>
              <a:rPr lang="en-US" sz="1500" dirty="0">
                <a:solidFill>
                  <a:srgbClr val="111111"/>
                </a:solidFill>
                <a:latin typeface="Aptos" pitchFamily="34" charset="0"/>
                <a:ea typeface="Aptos" pitchFamily="34" charset="-122"/>
                <a:cs typeface="Aptos" pitchFamily="34" charset="-120"/>
              </a:rPr>
              <a:t>Build base dictionaries</a:t>
            </a:r>
            <a:endParaRPr lang="en-US" sz="1500" dirty="0"/>
          </a:p>
          <a:p>
            <a:pPr marL="0" indent="0">
              <a:buNone/>
            </a:pPr>
            <a:r>
              <a:rPr lang="en-US" sz="1500" dirty="0">
                <a:solidFill>
                  <a:srgbClr val="111111"/>
                </a:solidFill>
                <a:latin typeface="Aptos" pitchFamily="34" charset="0"/>
                <a:ea typeface="Aptos" pitchFamily="34" charset="-122"/>
                <a:cs typeface="Aptos" pitchFamily="34" charset="-120"/>
              </a:rPr>
              <a:t>from trusted resources</a:t>
            </a:r>
            <a:endParaRPr lang="en-US" sz="1500" dirty="0"/>
          </a:p>
        </p:txBody>
      </p:sp>
      <p:sp>
        <p:nvSpPr>
          <p:cNvPr id="8" name="Shape 6"/>
          <p:cNvSpPr/>
          <p:nvPr/>
        </p:nvSpPr>
        <p:spPr>
          <a:xfrm>
            <a:off x="4800600" y="2788920"/>
            <a:ext cx="822960" cy="0"/>
          </a:xfrm>
          <a:prstGeom prst="line">
            <a:avLst/>
          </a:prstGeom>
          <a:noFill/>
          <a:ln w="13970">
            <a:solidFill>
              <a:srgbClr val="666666"/>
            </a:solidFill>
            <a:prstDash val="solid"/>
            <a:headEnd type="none"/>
            <a:tailEnd type="triangle"/>
          </a:ln>
        </p:spPr>
      </p:sp>
      <p:sp>
        <p:nvSpPr>
          <p:cNvPr id="9" name="Shape 7"/>
          <p:cNvSpPr/>
          <p:nvPr/>
        </p:nvSpPr>
        <p:spPr>
          <a:xfrm>
            <a:off x="5806440" y="2331720"/>
            <a:ext cx="1417320" cy="914400"/>
          </a:xfrm>
          <a:prstGeom prst="roundRect">
            <a:avLst>
              <a:gd name="adj" fmla="val 8000"/>
            </a:avLst>
          </a:prstGeom>
          <a:solidFill>
            <a:srgbClr val="FFFFFF"/>
          </a:solidFill>
          <a:ln w="13335">
            <a:solidFill>
              <a:srgbClr val="111111"/>
            </a:solidFill>
            <a:prstDash val="solid"/>
          </a:ln>
        </p:spPr>
      </p:sp>
      <p:sp>
        <p:nvSpPr>
          <p:cNvPr id="10" name="Text 8"/>
          <p:cNvSpPr/>
          <p:nvPr/>
        </p:nvSpPr>
        <p:spPr>
          <a:xfrm>
            <a:off x="5943600" y="2423160"/>
            <a:ext cx="1143000" cy="731520"/>
          </a:xfrm>
          <a:prstGeom prst="rect">
            <a:avLst/>
          </a:prstGeom>
          <a:noFill/>
          <a:ln/>
        </p:spPr>
        <p:txBody>
          <a:bodyPr wrap="square" lIns="0" tIns="0" rIns="0" bIns="0" rtlCol="0" anchor="ctr">
            <a:normAutofit/>
          </a:bodyPr>
          <a:lstStyle/>
          <a:p>
            <a:pPr marL="0" indent="0" algn="ctr">
              <a:buNone/>
            </a:pPr>
            <a:r>
              <a:rPr lang="en-US" sz="1800" b="1" dirty="0">
                <a:solidFill>
                  <a:srgbClr val="111111"/>
                </a:solidFill>
                <a:latin typeface="Aptos" pitchFamily="34" charset="0"/>
                <a:ea typeface="Aptos" pitchFamily="34" charset="-122"/>
                <a:cs typeface="Aptos" pitchFamily="34" charset="-120"/>
              </a:rPr>
              <a:t>2</a:t>
            </a:r>
            <a:endParaRPr lang="en-US" sz="1800" dirty="0"/>
          </a:p>
          <a:p>
            <a:pPr marL="0" indent="0" algn="ctr">
              <a:buNone/>
            </a:pPr>
            <a:r>
              <a:rPr lang="en-US" sz="1800" b="1" dirty="0">
                <a:solidFill>
                  <a:srgbClr val="111111"/>
                </a:solidFill>
                <a:latin typeface="Aptos" pitchFamily="34" charset="0"/>
                <a:ea typeface="Aptos" pitchFamily="34" charset="-122"/>
                <a:cs typeface="Aptos" pitchFamily="34" charset="-120"/>
              </a:rPr>
              <a:t>NER</a:t>
            </a:r>
            <a:endParaRPr lang="en-US" sz="1800" dirty="0"/>
          </a:p>
        </p:txBody>
      </p:sp>
      <p:sp>
        <p:nvSpPr>
          <p:cNvPr id="11" name="Text 9"/>
          <p:cNvSpPr/>
          <p:nvPr/>
        </p:nvSpPr>
        <p:spPr>
          <a:xfrm>
            <a:off x="7452360" y="2423160"/>
            <a:ext cx="2057400" cy="658368"/>
          </a:xfrm>
          <a:prstGeom prst="rect">
            <a:avLst/>
          </a:prstGeom>
          <a:noFill/>
          <a:ln/>
        </p:spPr>
        <p:txBody>
          <a:bodyPr wrap="square" lIns="0" tIns="0" rIns="0" bIns="0" rtlCol="0" anchor="ctr">
            <a:normAutofit/>
          </a:bodyPr>
          <a:lstStyle/>
          <a:p>
            <a:pPr marL="0" indent="0">
              <a:buNone/>
            </a:pPr>
            <a:r>
              <a:rPr lang="en-US" sz="1500" dirty="0">
                <a:solidFill>
                  <a:srgbClr val="111111"/>
                </a:solidFill>
                <a:latin typeface="Aptos" pitchFamily="34" charset="0"/>
                <a:ea typeface="Aptos" pitchFamily="34" charset="-122"/>
                <a:cs typeface="Aptos" pitchFamily="34" charset="-120"/>
              </a:rPr>
              <a:t>Find unseen entities</a:t>
            </a:r>
            <a:endParaRPr lang="en-US" sz="1500" dirty="0"/>
          </a:p>
          <a:p>
            <a:pPr marL="0" indent="0">
              <a:buNone/>
            </a:pPr>
            <a:r>
              <a:rPr lang="en-US" sz="1500" dirty="0">
                <a:solidFill>
                  <a:srgbClr val="111111"/>
                </a:solidFill>
                <a:latin typeface="Aptos" pitchFamily="34" charset="0"/>
                <a:ea typeface="Aptos" pitchFamily="34" charset="-122"/>
                <a:cs typeface="Aptos" pitchFamily="34" charset="-120"/>
              </a:rPr>
              <a:t>from real datasets</a:t>
            </a:r>
            <a:endParaRPr lang="en-US" sz="1500" dirty="0"/>
          </a:p>
        </p:txBody>
      </p:sp>
      <p:sp>
        <p:nvSpPr>
          <p:cNvPr id="12" name="Shape 10"/>
          <p:cNvSpPr/>
          <p:nvPr/>
        </p:nvSpPr>
        <p:spPr>
          <a:xfrm>
            <a:off x="9646920" y="2788920"/>
            <a:ext cx="822960" cy="0"/>
          </a:xfrm>
          <a:prstGeom prst="line">
            <a:avLst/>
          </a:prstGeom>
          <a:noFill/>
          <a:ln w="13970">
            <a:solidFill>
              <a:srgbClr val="666666"/>
            </a:solidFill>
            <a:prstDash val="solid"/>
            <a:headEnd type="none"/>
            <a:tailEnd type="triangle"/>
          </a:ln>
        </p:spPr>
      </p:sp>
      <p:sp>
        <p:nvSpPr>
          <p:cNvPr id="13" name="Shape 11"/>
          <p:cNvSpPr/>
          <p:nvPr/>
        </p:nvSpPr>
        <p:spPr>
          <a:xfrm>
            <a:off x="10652760" y="2331720"/>
            <a:ext cx="1005840" cy="914400"/>
          </a:xfrm>
          <a:prstGeom prst="roundRect">
            <a:avLst>
              <a:gd name="adj" fmla="val 8000"/>
            </a:avLst>
          </a:prstGeom>
          <a:solidFill>
            <a:srgbClr val="FFFFFF"/>
          </a:solidFill>
          <a:ln w="13335">
            <a:solidFill>
              <a:srgbClr val="111111"/>
            </a:solidFill>
            <a:prstDash val="solid"/>
          </a:ln>
        </p:spPr>
      </p:sp>
      <p:sp>
        <p:nvSpPr>
          <p:cNvPr id="14" name="Text 12"/>
          <p:cNvSpPr/>
          <p:nvPr/>
        </p:nvSpPr>
        <p:spPr>
          <a:xfrm>
            <a:off x="10789920" y="2423160"/>
            <a:ext cx="731520" cy="731520"/>
          </a:xfrm>
          <a:prstGeom prst="rect">
            <a:avLst/>
          </a:prstGeom>
          <a:noFill/>
          <a:ln/>
        </p:spPr>
        <p:txBody>
          <a:bodyPr wrap="square" lIns="0" tIns="0" rIns="0" bIns="0" rtlCol="0" anchor="ctr">
            <a:normAutofit/>
          </a:bodyPr>
          <a:lstStyle/>
          <a:p>
            <a:pPr marL="0" indent="0" algn="ctr">
              <a:buNone/>
            </a:pPr>
            <a:r>
              <a:rPr lang="en-US" sz="1600" b="1" dirty="0">
                <a:solidFill>
                  <a:srgbClr val="111111"/>
                </a:solidFill>
                <a:latin typeface="Aptos" pitchFamily="34" charset="0"/>
                <a:ea typeface="Aptos" pitchFamily="34" charset="-122"/>
                <a:cs typeface="Aptos" pitchFamily="34" charset="-120"/>
              </a:rPr>
              <a:t>3</a:t>
            </a:r>
            <a:endParaRPr lang="en-US" sz="1600" dirty="0"/>
          </a:p>
          <a:p>
            <a:pPr marL="0" indent="0" algn="ctr">
              <a:buNone/>
            </a:pPr>
            <a:r>
              <a:rPr lang="en-US" sz="1600" b="1" dirty="0">
                <a:solidFill>
                  <a:srgbClr val="111111"/>
                </a:solidFill>
                <a:latin typeface="Aptos" pitchFamily="34" charset="0"/>
                <a:ea typeface="Aptos" pitchFamily="34" charset="-122"/>
                <a:cs typeface="Aptos" pitchFamily="34" charset="-120"/>
              </a:rPr>
              <a:t>NEM</a:t>
            </a:r>
            <a:endParaRPr lang="en-US" sz="1600" dirty="0"/>
          </a:p>
        </p:txBody>
      </p:sp>
      <p:sp>
        <p:nvSpPr>
          <p:cNvPr id="15" name="Text 13"/>
          <p:cNvSpPr/>
          <p:nvPr/>
        </p:nvSpPr>
        <p:spPr>
          <a:xfrm>
            <a:off x="914400" y="4005072"/>
            <a:ext cx="10058400" cy="347472"/>
          </a:xfrm>
          <a:prstGeom prst="rect">
            <a:avLst/>
          </a:prstGeom>
          <a:noFill/>
          <a:ln/>
        </p:spPr>
        <p:txBody>
          <a:bodyPr wrap="square" lIns="0" tIns="0" rIns="0" bIns="0" rtlCol="0" anchor="ctr"/>
          <a:lstStyle/>
          <a:p>
            <a:pPr marL="0" indent="0">
              <a:buNone/>
            </a:pPr>
            <a:endParaRPr lang="en-US" sz="1800" dirty="0"/>
          </a:p>
        </p:txBody>
      </p:sp>
      <p:sp>
        <p:nvSpPr>
          <p:cNvPr id="16" name="Text 14"/>
          <p:cNvSpPr/>
          <p:nvPr/>
        </p:nvSpPr>
        <p:spPr>
          <a:xfrm>
            <a:off x="914400" y="4617720"/>
            <a:ext cx="164592" cy="182880"/>
          </a:xfrm>
          <a:prstGeom prst="rect">
            <a:avLst/>
          </a:prstGeom>
          <a:noFill/>
          <a:ln/>
        </p:spPr>
        <p:txBody>
          <a:bodyPr wrap="square" lIns="0" tIns="0" rIns="0" bIns="0" rtlCol="0" anchor="ctr"/>
          <a:lstStyle/>
          <a:p>
            <a:pPr marL="0" indent="0">
              <a:buNone/>
            </a:pPr>
            <a:r>
              <a:rPr lang="en-US" sz="1550" dirty="0">
                <a:solidFill>
                  <a:srgbClr val="111111"/>
                </a:solidFill>
                <a:latin typeface="Aptos" pitchFamily="34" charset="0"/>
                <a:ea typeface="Aptos" pitchFamily="34" charset="-122"/>
                <a:cs typeface="Aptos" pitchFamily="34" charset="-120"/>
              </a:rPr>
              <a:t>•</a:t>
            </a:r>
            <a:endParaRPr lang="en-US" sz="1550" dirty="0"/>
          </a:p>
        </p:txBody>
      </p:sp>
      <p:sp>
        <p:nvSpPr>
          <p:cNvPr id="17" name="Text 15"/>
          <p:cNvSpPr/>
          <p:nvPr/>
        </p:nvSpPr>
        <p:spPr>
          <a:xfrm>
            <a:off x="1216152" y="4626864"/>
            <a:ext cx="8659368" cy="292608"/>
          </a:xfrm>
          <a:prstGeom prst="rect">
            <a:avLst/>
          </a:prstGeom>
          <a:noFill/>
          <a:ln/>
        </p:spPr>
        <p:txBody>
          <a:bodyPr wrap="square" lIns="0" tIns="0" rIns="0" bIns="0" rtlCol="0" anchor="ctr">
            <a:normAutofit/>
          </a:bodyPr>
          <a:lstStyle/>
          <a:p>
            <a:pPr marL="0" indent="0">
              <a:buNone/>
            </a:pPr>
            <a:r>
              <a:rPr lang="en-US" sz="1550" dirty="0">
                <a:solidFill>
                  <a:srgbClr val="111111"/>
                </a:solidFill>
                <a:latin typeface="Aptos" pitchFamily="34" charset="0"/>
                <a:ea typeface="Aptos" pitchFamily="34" charset="-122"/>
                <a:cs typeface="Aptos" pitchFamily="34" charset="-120"/>
              </a:rPr>
              <a:t>HEE = Starting vocabulary</a:t>
            </a:r>
            <a:endParaRPr lang="en-US" sz="1550" dirty="0"/>
          </a:p>
        </p:txBody>
      </p:sp>
      <p:sp>
        <p:nvSpPr>
          <p:cNvPr id="18" name="Text 16"/>
          <p:cNvSpPr/>
          <p:nvPr/>
        </p:nvSpPr>
        <p:spPr>
          <a:xfrm>
            <a:off x="914400" y="5010912"/>
            <a:ext cx="164592" cy="182880"/>
          </a:xfrm>
          <a:prstGeom prst="rect">
            <a:avLst/>
          </a:prstGeom>
          <a:noFill/>
          <a:ln/>
        </p:spPr>
        <p:txBody>
          <a:bodyPr wrap="square" lIns="0" tIns="0" rIns="0" bIns="0" rtlCol="0" anchor="ctr"/>
          <a:lstStyle/>
          <a:p>
            <a:pPr marL="0" indent="0">
              <a:buNone/>
            </a:pPr>
            <a:r>
              <a:rPr lang="en-US" sz="1550" dirty="0">
                <a:solidFill>
                  <a:srgbClr val="111111"/>
                </a:solidFill>
                <a:latin typeface="Aptos" pitchFamily="34" charset="0"/>
                <a:ea typeface="Aptos" pitchFamily="34" charset="-122"/>
                <a:cs typeface="Aptos" pitchFamily="34" charset="-120"/>
              </a:rPr>
              <a:t>•</a:t>
            </a:r>
            <a:endParaRPr lang="en-US" sz="1550" dirty="0"/>
          </a:p>
        </p:txBody>
      </p:sp>
      <p:sp>
        <p:nvSpPr>
          <p:cNvPr id="19" name="Text 17"/>
          <p:cNvSpPr/>
          <p:nvPr/>
        </p:nvSpPr>
        <p:spPr>
          <a:xfrm>
            <a:off x="1216152" y="5020056"/>
            <a:ext cx="8659368" cy="292608"/>
          </a:xfrm>
          <a:prstGeom prst="rect">
            <a:avLst/>
          </a:prstGeom>
          <a:noFill/>
          <a:ln/>
        </p:spPr>
        <p:txBody>
          <a:bodyPr wrap="square" lIns="0" tIns="0" rIns="0" bIns="0" rtlCol="0" anchor="ctr">
            <a:normAutofit/>
          </a:bodyPr>
          <a:lstStyle/>
          <a:p>
            <a:pPr marL="0" indent="0">
              <a:buNone/>
            </a:pPr>
            <a:r>
              <a:rPr lang="en-US" sz="1550" dirty="0">
                <a:solidFill>
                  <a:srgbClr val="111111"/>
                </a:solidFill>
                <a:latin typeface="Aptos" pitchFamily="34" charset="0"/>
                <a:ea typeface="Aptos" pitchFamily="34" charset="-122"/>
                <a:cs typeface="Aptos" pitchFamily="34" charset="-120"/>
              </a:rPr>
              <a:t>NER = Expansion and discovery</a:t>
            </a:r>
            <a:endParaRPr lang="en-US" sz="1550" dirty="0"/>
          </a:p>
        </p:txBody>
      </p:sp>
      <p:sp>
        <p:nvSpPr>
          <p:cNvPr id="20" name="Text 18"/>
          <p:cNvSpPr/>
          <p:nvPr/>
        </p:nvSpPr>
        <p:spPr>
          <a:xfrm>
            <a:off x="914400" y="5404104"/>
            <a:ext cx="164592" cy="182880"/>
          </a:xfrm>
          <a:prstGeom prst="rect">
            <a:avLst/>
          </a:prstGeom>
          <a:noFill/>
          <a:ln/>
        </p:spPr>
        <p:txBody>
          <a:bodyPr wrap="square" lIns="0" tIns="0" rIns="0" bIns="0" rtlCol="0" anchor="ctr"/>
          <a:lstStyle/>
          <a:p>
            <a:pPr marL="0" indent="0">
              <a:buNone/>
            </a:pPr>
            <a:r>
              <a:rPr lang="en-US" sz="1550" dirty="0">
                <a:solidFill>
                  <a:srgbClr val="111111"/>
                </a:solidFill>
                <a:latin typeface="Aptos" pitchFamily="34" charset="0"/>
                <a:ea typeface="Aptos" pitchFamily="34" charset="-122"/>
                <a:cs typeface="Aptos" pitchFamily="34" charset="-120"/>
              </a:rPr>
              <a:t>•</a:t>
            </a:r>
            <a:endParaRPr lang="en-US" sz="1550" dirty="0"/>
          </a:p>
        </p:txBody>
      </p:sp>
      <p:sp>
        <p:nvSpPr>
          <p:cNvPr id="21" name="Text 19"/>
          <p:cNvSpPr/>
          <p:nvPr/>
        </p:nvSpPr>
        <p:spPr>
          <a:xfrm>
            <a:off x="1216152" y="5413248"/>
            <a:ext cx="8659368" cy="292608"/>
          </a:xfrm>
          <a:prstGeom prst="rect">
            <a:avLst/>
          </a:prstGeom>
          <a:noFill/>
          <a:ln/>
        </p:spPr>
        <p:txBody>
          <a:bodyPr wrap="square" lIns="0" tIns="0" rIns="0" bIns="0" rtlCol="0" anchor="ctr">
            <a:normAutofit/>
          </a:bodyPr>
          <a:lstStyle/>
          <a:p>
            <a:pPr marL="0" indent="0">
              <a:buNone/>
            </a:pPr>
            <a:r>
              <a:rPr lang="en-US" sz="1550" dirty="0">
                <a:solidFill>
                  <a:srgbClr val="111111"/>
                </a:solidFill>
                <a:latin typeface="Aptos" pitchFamily="34" charset="0"/>
                <a:ea typeface="Aptos" pitchFamily="34" charset="-122"/>
                <a:cs typeface="Aptos" pitchFamily="34" charset="-120"/>
              </a:rPr>
              <a:t>NEM = Final extraction by matching</a:t>
            </a:r>
            <a:endParaRPr lang="en-US" sz="1550" dirty="0"/>
          </a:p>
        </p:txBody>
      </p:sp>
      <p:sp>
        <p:nvSpPr>
          <p:cNvPr id="23" name="Text 21"/>
          <p:cNvSpPr/>
          <p:nvPr/>
        </p:nvSpPr>
        <p:spPr>
          <a:xfrm>
            <a:off x="11356848" y="6473952"/>
            <a:ext cx="320040" cy="164592"/>
          </a:xfrm>
          <a:prstGeom prst="rect">
            <a:avLst/>
          </a:prstGeom>
          <a:noFill/>
          <a:ln/>
        </p:spPr>
        <p:txBody>
          <a:bodyPr wrap="square" lIns="0" tIns="0" rIns="0" bIns="0" rtlCol="0" anchor="ctr"/>
          <a:lstStyle/>
          <a:p>
            <a:pPr marL="0" indent="0" algn="r">
              <a:buNone/>
            </a:pP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384048"/>
            <a:ext cx="4206240" cy="164592"/>
          </a:xfrm>
          <a:prstGeom prst="rect">
            <a:avLst/>
          </a:prstGeom>
          <a:noFill/>
          <a:ln/>
        </p:spPr>
        <p:txBody>
          <a:bodyPr wrap="square" lIns="0" tIns="0" rIns="0" bIns="0" rtlCol="0" anchor="ctr"/>
          <a:lstStyle/>
          <a:p>
            <a:pPr marL="0" indent="0">
              <a:buNone/>
            </a:pPr>
            <a:r>
              <a:rPr lang="en-US" sz="850" b="1" dirty="0">
                <a:solidFill>
                  <a:srgbClr val="777777"/>
                </a:solidFill>
                <a:latin typeface="Aptos" pitchFamily="34" charset="0"/>
                <a:ea typeface="Aptos" pitchFamily="34" charset="-122"/>
                <a:cs typeface="Aptos" pitchFamily="34" charset="-120"/>
              </a:rPr>
              <a:t>HEURISTIC ENTITY EXTRACTION</a:t>
            </a:r>
            <a:endParaRPr lang="en-US" sz="850" dirty="0"/>
          </a:p>
        </p:txBody>
      </p:sp>
      <p:sp>
        <p:nvSpPr>
          <p:cNvPr id="3" name="Text 1"/>
          <p:cNvSpPr/>
          <p:nvPr/>
        </p:nvSpPr>
        <p:spPr>
          <a:xfrm>
            <a:off x="640080" y="658368"/>
            <a:ext cx="10789920" cy="502920"/>
          </a:xfrm>
          <a:prstGeom prst="rect">
            <a:avLst/>
          </a:prstGeom>
          <a:noFill/>
          <a:ln/>
        </p:spPr>
        <p:txBody>
          <a:bodyPr wrap="square" lIns="0" tIns="0" rIns="0" bIns="0" rtlCol="0" anchor="ctr">
            <a:normAutofit/>
          </a:bodyPr>
          <a:lstStyle/>
          <a:p>
            <a:pPr marL="0" indent="0">
              <a:buNone/>
            </a:pPr>
            <a:r>
              <a:rPr lang="en-US" sz="2700" b="1" dirty="0">
                <a:solidFill>
                  <a:srgbClr val="111111"/>
                </a:solidFill>
                <a:latin typeface="Aptos Display" pitchFamily="34" charset="0"/>
                <a:ea typeface="Aptos Display" pitchFamily="34" charset="-122"/>
                <a:cs typeface="Aptos Display" pitchFamily="34" charset="-120"/>
              </a:rPr>
              <a:t>Method 1: HEE builds base dictionaries</a:t>
            </a:r>
            <a:endParaRPr lang="en-US" sz="2700" dirty="0"/>
          </a:p>
        </p:txBody>
      </p:sp>
      <p:sp>
        <p:nvSpPr>
          <p:cNvPr id="4" name="Text 2"/>
          <p:cNvSpPr/>
          <p:nvPr/>
        </p:nvSpPr>
        <p:spPr>
          <a:xfrm>
            <a:off x="658368" y="1307592"/>
            <a:ext cx="10652760" cy="457200"/>
          </a:xfrm>
          <a:prstGeom prst="rect">
            <a:avLst/>
          </a:prstGeom>
          <a:noFill/>
          <a:ln/>
        </p:spPr>
        <p:txBody>
          <a:bodyPr wrap="square" lIns="0" tIns="0" rIns="0" bIns="0" rtlCol="0" anchor="ctr">
            <a:normAutofit fontScale="92500" lnSpcReduction="20000"/>
          </a:bodyPr>
          <a:lstStyle/>
          <a:p>
            <a:pPr marL="0" indent="0">
              <a:buNone/>
            </a:pPr>
            <a:r>
              <a:rPr lang="en-US" sz="1900" b="1" dirty="0">
                <a:solidFill>
                  <a:srgbClr val="111111"/>
                </a:solidFill>
                <a:latin typeface="Aptos" pitchFamily="34" charset="0"/>
                <a:ea typeface="Aptos" pitchFamily="34" charset="-122"/>
                <a:cs typeface="Aptos" pitchFamily="34" charset="-120"/>
              </a:rPr>
              <a:t>HEE extracts known food-safety terms from public and expert-curated resources using rules, regex, POS patterns, and keyword matching.</a:t>
            </a:r>
            <a:endParaRPr lang="en-US" sz="1900" dirty="0"/>
          </a:p>
        </p:txBody>
      </p:sp>
      <p:sp>
        <p:nvSpPr>
          <p:cNvPr id="5" name="Shape 3"/>
          <p:cNvSpPr/>
          <p:nvPr/>
        </p:nvSpPr>
        <p:spPr>
          <a:xfrm>
            <a:off x="841248" y="2057400"/>
            <a:ext cx="3489960" cy="594360"/>
          </a:xfrm>
          <a:prstGeom prst="rect">
            <a:avLst/>
          </a:prstGeom>
          <a:solidFill>
            <a:srgbClr val="FFFFFF"/>
          </a:solidFill>
          <a:ln w="12700">
            <a:solidFill>
              <a:srgbClr val="111111"/>
            </a:solidFill>
            <a:prstDash val="solid"/>
          </a:ln>
        </p:spPr>
      </p:sp>
      <p:sp>
        <p:nvSpPr>
          <p:cNvPr id="6" name="Text 4"/>
          <p:cNvSpPr/>
          <p:nvPr/>
        </p:nvSpPr>
        <p:spPr>
          <a:xfrm>
            <a:off x="914400" y="2130552"/>
            <a:ext cx="3343656" cy="448056"/>
          </a:xfrm>
          <a:prstGeom prst="rect">
            <a:avLst/>
          </a:prstGeom>
          <a:noFill/>
          <a:ln/>
        </p:spPr>
        <p:txBody>
          <a:bodyPr wrap="square" lIns="0" tIns="0" rIns="0" bIns="0" rtlCol="0" anchor="ctr">
            <a:normAutofit/>
          </a:bodyPr>
          <a:lstStyle/>
          <a:p>
            <a:pPr marL="0" indent="0">
              <a:buNone/>
            </a:pPr>
            <a:r>
              <a:rPr lang="en-US" sz="1350" b="1" dirty="0">
                <a:solidFill>
                  <a:srgbClr val="111111"/>
                </a:solidFill>
                <a:latin typeface="Aptos" pitchFamily="34" charset="0"/>
                <a:ea typeface="Aptos" pitchFamily="34" charset="-122"/>
                <a:cs typeface="Aptos" pitchFamily="34" charset="-120"/>
              </a:rPr>
              <a:t>Entity type</a:t>
            </a:r>
            <a:endParaRPr lang="en-US" sz="1350" dirty="0"/>
          </a:p>
        </p:txBody>
      </p:sp>
      <p:sp>
        <p:nvSpPr>
          <p:cNvPr id="7" name="Shape 5"/>
          <p:cNvSpPr/>
          <p:nvPr/>
        </p:nvSpPr>
        <p:spPr>
          <a:xfrm>
            <a:off x="4331208" y="2057400"/>
            <a:ext cx="3489960" cy="594360"/>
          </a:xfrm>
          <a:prstGeom prst="rect">
            <a:avLst/>
          </a:prstGeom>
          <a:solidFill>
            <a:srgbClr val="FFFFFF"/>
          </a:solidFill>
          <a:ln w="12700">
            <a:solidFill>
              <a:srgbClr val="111111"/>
            </a:solidFill>
            <a:prstDash val="solid"/>
          </a:ln>
        </p:spPr>
      </p:sp>
      <p:sp>
        <p:nvSpPr>
          <p:cNvPr id="8" name="Text 6"/>
          <p:cNvSpPr/>
          <p:nvPr/>
        </p:nvSpPr>
        <p:spPr>
          <a:xfrm>
            <a:off x="4404360" y="2130552"/>
            <a:ext cx="3343656" cy="448056"/>
          </a:xfrm>
          <a:prstGeom prst="rect">
            <a:avLst/>
          </a:prstGeom>
          <a:noFill/>
          <a:ln/>
        </p:spPr>
        <p:txBody>
          <a:bodyPr wrap="square" lIns="0" tIns="0" rIns="0" bIns="0" rtlCol="0" anchor="ctr">
            <a:normAutofit/>
          </a:bodyPr>
          <a:lstStyle/>
          <a:p>
            <a:pPr marL="0" indent="0">
              <a:buNone/>
            </a:pPr>
            <a:r>
              <a:rPr lang="en-US" sz="1350" b="1" dirty="0">
                <a:solidFill>
                  <a:srgbClr val="111111"/>
                </a:solidFill>
                <a:latin typeface="Aptos" pitchFamily="34" charset="0"/>
                <a:ea typeface="Aptos" pitchFamily="34" charset="-122"/>
                <a:cs typeface="Aptos" pitchFamily="34" charset="-120"/>
              </a:rPr>
              <a:t>Main sources</a:t>
            </a:r>
            <a:endParaRPr lang="en-US" sz="1350" dirty="0"/>
          </a:p>
        </p:txBody>
      </p:sp>
      <p:sp>
        <p:nvSpPr>
          <p:cNvPr id="9" name="Shape 7"/>
          <p:cNvSpPr/>
          <p:nvPr/>
        </p:nvSpPr>
        <p:spPr>
          <a:xfrm>
            <a:off x="7821168" y="2057400"/>
            <a:ext cx="3489960" cy="594360"/>
          </a:xfrm>
          <a:prstGeom prst="rect">
            <a:avLst/>
          </a:prstGeom>
          <a:solidFill>
            <a:srgbClr val="FFFFFF"/>
          </a:solidFill>
          <a:ln w="12700">
            <a:solidFill>
              <a:srgbClr val="111111"/>
            </a:solidFill>
            <a:prstDash val="solid"/>
          </a:ln>
        </p:spPr>
      </p:sp>
      <p:sp>
        <p:nvSpPr>
          <p:cNvPr id="10" name="Text 8"/>
          <p:cNvSpPr/>
          <p:nvPr/>
        </p:nvSpPr>
        <p:spPr>
          <a:xfrm>
            <a:off x="7894320" y="2130552"/>
            <a:ext cx="3343656" cy="448056"/>
          </a:xfrm>
          <a:prstGeom prst="rect">
            <a:avLst/>
          </a:prstGeom>
          <a:noFill/>
          <a:ln/>
        </p:spPr>
        <p:txBody>
          <a:bodyPr wrap="square" lIns="0" tIns="0" rIns="0" bIns="0" rtlCol="0" anchor="ctr">
            <a:normAutofit/>
          </a:bodyPr>
          <a:lstStyle/>
          <a:p>
            <a:pPr marL="0" indent="0">
              <a:buNone/>
            </a:pPr>
            <a:r>
              <a:rPr lang="en-US" sz="1350" b="1" dirty="0">
                <a:solidFill>
                  <a:srgbClr val="111111"/>
                </a:solidFill>
                <a:latin typeface="Aptos" pitchFamily="34" charset="0"/>
                <a:ea typeface="Aptos" pitchFamily="34" charset="-122"/>
                <a:cs typeface="Aptos" pitchFamily="34" charset="-120"/>
              </a:rPr>
              <a:t>Final base count</a:t>
            </a:r>
            <a:endParaRPr lang="en-US" sz="1350" dirty="0"/>
          </a:p>
        </p:txBody>
      </p:sp>
      <p:sp>
        <p:nvSpPr>
          <p:cNvPr id="11" name="Shape 9"/>
          <p:cNvSpPr/>
          <p:nvPr/>
        </p:nvSpPr>
        <p:spPr>
          <a:xfrm>
            <a:off x="841248" y="2651760"/>
            <a:ext cx="3489960" cy="594360"/>
          </a:xfrm>
          <a:prstGeom prst="rect">
            <a:avLst/>
          </a:prstGeom>
          <a:solidFill>
            <a:srgbClr val="FFFFFF"/>
          </a:solidFill>
          <a:ln w="9525">
            <a:solidFill>
              <a:srgbClr val="E6E6E6"/>
            </a:solidFill>
            <a:prstDash val="solid"/>
          </a:ln>
        </p:spPr>
      </p:sp>
      <p:sp>
        <p:nvSpPr>
          <p:cNvPr id="12" name="Text 10"/>
          <p:cNvSpPr/>
          <p:nvPr/>
        </p:nvSpPr>
        <p:spPr>
          <a:xfrm>
            <a:off x="914400" y="272491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Food</a:t>
            </a:r>
            <a:endParaRPr lang="en-US" sz="1350" dirty="0"/>
          </a:p>
        </p:txBody>
      </p:sp>
      <p:sp>
        <p:nvSpPr>
          <p:cNvPr id="13" name="Shape 11"/>
          <p:cNvSpPr/>
          <p:nvPr/>
        </p:nvSpPr>
        <p:spPr>
          <a:xfrm>
            <a:off x="4331208" y="2651760"/>
            <a:ext cx="3489960" cy="594360"/>
          </a:xfrm>
          <a:prstGeom prst="rect">
            <a:avLst/>
          </a:prstGeom>
          <a:solidFill>
            <a:srgbClr val="FFFFFF"/>
          </a:solidFill>
          <a:ln w="9525">
            <a:solidFill>
              <a:srgbClr val="E6E6E6"/>
            </a:solidFill>
            <a:prstDash val="solid"/>
          </a:ln>
        </p:spPr>
      </p:sp>
      <p:sp>
        <p:nvSpPr>
          <p:cNvPr id="14" name="Text 12"/>
          <p:cNvSpPr/>
          <p:nvPr/>
        </p:nvSpPr>
        <p:spPr>
          <a:xfrm>
            <a:off x="4404360" y="272491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FoodData Central, FooDB, FoodBase, Wikipedia</a:t>
            </a:r>
            <a:endParaRPr lang="en-US" sz="1350" dirty="0"/>
          </a:p>
        </p:txBody>
      </p:sp>
      <p:sp>
        <p:nvSpPr>
          <p:cNvPr id="15" name="Shape 13"/>
          <p:cNvSpPr/>
          <p:nvPr/>
        </p:nvSpPr>
        <p:spPr>
          <a:xfrm>
            <a:off x="7821168" y="2651760"/>
            <a:ext cx="3489960" cy="594360"/>
          </a:xfrm>
          <a:prstGeom prst="rect">
            <a:avLst/>
          </a:prstGeom>
          <a:solidFill>
            <a:srgbClr val="FFFFFF"/>
          </a:solidFill>
          <a:ln w="9525">
            <a:solidFill>
              <a:srgbClr val="E6E6E6"/>
            </a:solidFill>
            <a:prstDash val="solid"/>
          </a:ln>
        </p:spPr>
      </p:sp>
      <p:sp>
        <p:nvSpPr>
          <p:cNvPr id="16" name="Text 14"/>
          <p:cNvSpPr/>
          <p:nvPr/>
        </p:nvSpPr>
        <p:spPr>
          <a:xfrm>
            <a:off x="7894320" y="272491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5,866</a:t>
            </a:r>
            <a:endParaRPr lang="en-US" sz="1350" dirty="0"/>
          </a:p>
        </p:txBody>
      </p:sp>
      <p:sp>
        <p:nvSpPr>
          <p:cNvPr id="17" name="Shape 15"/>
          <p:cNvSpPr/>
          <p:nvPr/>
        </p:nvSpPr>
        <p:spPr>
          <a:xfrm>
            <a:off x="841248" y="3246120"/>
            <a:ext cx="3489960" cy="594360"/>
          </a:xfrm>
          <a:prstGeom prst="rect">
            <a:avLst/>
          </a:prstGeom>
          <a:solidFill>
            <a:srgbClr val="FFFFFF"/>
          </a:solidFill>
          <a:ln w="9525">
            <a:solidFill>
              <a:srgbClr val="E6E6E6"/>
            </a:solidFill>
            <a:prstDash val="solid"/>
          </a:ln>
        </p:spPr>
      </p:sp>
      <p:sp>
        <p:nvSpPr>
          <p:cNvPr id="18" name="Text 16"/>
          <p:cNvSpPr/>
          <p:nvPr/>
        </p:nvSpPr>
        <p:spPr>
          <a:xfrm>
            <a:off x="914400" y="331927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Disease</a:t>
            </a:r>
            <a:endParaRPr lang="en-US" sz="1350" dirty="0"/>
          </a:p>
        </p:txBody>
      </p:sp>
      <p:sp>
        <p:nvSpPr>
          <p:cNvPr id="19" name="Shape 17"/>
          <p:cNvSpPr/>
          <p:nvPr/>
        </p:nvSpPr>
        <p:spPr>
          <a:xfrm>
            <a:off x="4331208" y="3246120"/>
            <a:ext cx="3489960" cy="594360"/>
          </a:xfrm>
          <a:prstGeom prst="rect">
            <a:avLst/>
          </a:prstGeom>
          <a:solidFill>
            <a:srgbClr val="FFFFFF"/>
          </a:solidFill>
          <a:ln w="9525">
            <a:solidFill>
              <a:srgbClr val="E6E6E6"/>
            </a:solidFill>
            <a:prstDash val="solid"/>
          </a:ln>
        </p:spPr>
      </p:sp>
      <p:sp>
        <p:nvSpPr>
          <p:cNvPr id="20" name="Text 18"/>
          <p:cNvSpPr/>
          <p:nvPr/>
        </p:nvSpPr>
        <p:spPr>
          <a:xfrm>
            <a:off x="4404360" y="331927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SFA bio-surveillance dataset</a:t>
            </a:r>
            <a:endParaRPr lang="en-US" sz="1350" dirty="0"/>
          </a:p>
        </p:txBody>
      </p:sp>
      <p:sp>
        <p:nvSpPr>
          <p:cNvPr id="21" name="Shape 19"/>
          <p:cNvSpPr/>
          <p:nvPr/>
        </p:nvSpPr>
        <p:spPr>
          <a:xfrm>
            <a:off x="7821168" y="3246120"/>
            <a:ext cx="3489960" cy="594360"/>
          </a:xfrm>
          <a:prstGeom prst="rect">
            <a:avLst/>
          </a:prstGeom>
          <a:solidFill>
            <a:srgbClr val="FFFFFF"/>
          </a:solidFill>
          <a:ln w="9525">
            <a:solidFill>
              <a:srgbClr val="E6E6E6"/>
            </a:solidFill>
            <a:prstDash val="solid"/>
          </a:ln>
        </p:spPr>
      </p:sp>
      <p:sp>
        <p:nvSpPr>
          <p:cNvPr id="22" name="Text 20"/>
          <p:cNvSpPr/>
          <p:nvPr/>
        </p:nvSpPr>
        <p:spPr>
          <a:xfrm>
            <a:off x="7894320" y="331927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138</a:t>
            </a:r>
            <a:endParaRPr lang="en-US" sz="1350" dirty="0"/>
          </a:p>
        </p:txBody>
      </p:sp>
      <p:sp>
        <p:nvSpPr>
          <p:cNvPr id="23" name="Shape 21"/>
          <p:cNvSpPr/>
          <p:nvPr/>
        </p:nvSpPr>
        <p:spPr>
          <a:xfrm>
            <a:off x="841248" y="3840480"/>
            <a:ext cx="3489960" cy="594360"/>
          </a:xfrm>
          <a:prstGeom prst="rect">
            <a:avLst/>
          </a:prstGeom>
          <a:solidFill>
            <a:srgbClr val="FFFFFF"/>
          </a:solidFill>
          <a:ln w="9525">
            <a:solidFill>
              <a:srgbClr val="E6E6E6"/>
            </a:solidFill>
            <a:prstDash val="solid"/>
          </a:ln>
        </p:spPr>
      </p:sp>
      <p:sp>
        <p:nvSpPr>
          <p:cNvPr id="24" name="Text 22"/>
          <p:cNvSpPr/>
          <p:nvPr/>
        </p:nvSpPr>
        <p:spPr>
          <a:xfrm>
            <a:off x="914400" y="391363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Symptom</a:t>
            </a:r>
            <a:endParaRPr lang="en-US" sz="1350" dirty="0"/>
          </a:p>
        </p:txBody>
      </p:sp>
      <p:sp>
        <p:nvSpPr>
          <p:cNvPr id="25" name="Shape 23"/>
          <p:cNvSpPr/>
          <p:nvPr/>
        </p:nvSpPr>
        <p:spPr>
          <a:xfrm>
            <a:off x="4331208" y="3840480"/>
            <a:ext cx="3489960" cy="594360"/>
          </a:xfrm>
          <a:prstGeom prst="rect">
            <a:avLst/>
          </a:prstGeom>
          <a:solidFill>
            <a:srgbClr val="FFFFFF"/>
          </a:solidFill>
          <a:ln w="9525">
            <a:solidFill>
              <a:srgbClr val="E6E6E6"/>
            </a:solidFill>
            <a:prstDash val="solid"/>
          </a:ln>
        </p:spPr>
      </p:sp>
      <p:sp>
        <p:nvSpPr>
          <p:cNvPr id="26" name="Text 24"/>
          <p:cNvSpPr/>
          <p:nvPr/>
        </p:nvSpPr>
        <p:spPr>
          <a:xfrm>
            <a:off x="4404360" y="391363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SFA dataset + WordNet</a:t>
            </a:r>
            <a:endParaRPr lang="en-US" sz="1350" dirty="0"/>
          </a:p>
        </p:txBody>
      </p:sp>
      <p:sp>
        <p:nvSpPr>
          <p:cNvPr id="27" name="Shape 25"/>
          <p:cNvSpPr/>
          <p:nvPr/>
        </p:nvSpPr>
        <p:spPr>
          <a:xfrm>
            <a:off x="7821168" y="3840480"/>
            <a:ext cx="3489960" cy="594360"/>
          </a:xfrm>
          <a:prstGeom prst="rect">
            <a:avLst/>
          </a:prstGeom>
          <a:solidFill>
            <a:srgbClr val="FFFFFF"/>
          </a:solidFill>
          <a:ln w="9525">
            <a:solidFill>
              <a:srgbClr val="E6E6E6"/>
            </a:solidFill>
            <a:prstDash val="solid"/>
          </a:ln>
        </p:spPr>
      </p:sp>
      <p:sp>
        <p:nvSpPr>
          <p:cNvPr id="28" name="Text 26"/>
          <p:cNvSpPr/>
          <p:nvPr/>
        </p:nvSpPr>
        <p:spPr>
          <a:xfrm>
            <a:off x="7894320" y="391363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328</a:t>
            </a:r>
            <a:endParaRPr lang="en-US" sz="1350" dirty="0"/>
          </a:p>
        </p:txBody>
      </p:sp>
      <p:sp>
        <p:nvSpPr>
          <p:cNvPr id="29" name="Shape 27"/>
          <p:cNvSpPr/>
          <p:nvPr/>
        </p:nvSpPr>
        <p:spPr>
          <a:xfrm>
            <a:off x="841248" y="4434840"/>
            <a:ext cx="3489960" cy="594360"/>
          </a:xfrm>
          <a:prstGeom prst="rect">
            <a:avLst/>
          </a:prstGeom>
          <a:solidFill>
            <a:srgbClr val="FFFFFF"/>
          </a:solidFill>
          <a:ln w="9525">
            <a:solidFill>
              <a:srgbClr val="E6E6E6"/>
            </a:solidFill>
            <a:prstDash val="solid"/>
          </a:ln>
        </p:spPr>
      </p:sp>
      <p:sp>
        <p:nvSpPr>
          <p:cNvPr id="30" name="Text 28"/>
          <p:cNvSpPr/>
          <p:nvPr/>
        </p:nvSpPr>
        <p:spPr>
          <a:xfrm>
            <a:off x="914400" y="450799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Location</a:t>
            </a:r>
            <a:endParaRPr lang="en-US" sz="1350" dirty="0"/>
          </a:p>
        </p:txBody>
      </p:sp>
      <p:sp>
        <p:nvSpPr>
          <p:cNvPr id="31" name="Shape 29"/>
          <p:cNvSpPr/>
          <p:nvPr/>
        </p:nvSpPr>
        <p:spPr>
          <a:xfrm>
            <a:off x="4331208" y="4434840"/>
            <a:ext cx="3489960" cy="594360"/>
          </a:xfrm>
          <a:prstGeom prst="rect">
            <a:avLst/>
          </a:prstGeom>
          <a:solidFill>
            <a:srgbClr val="FFFFFF"/>
          </a:solidFill>
          <a:ln w="9525">
            <a:solidFill>
              <a:srgbClr val="E6E6E6"/>
            </a:solidFill>
            <a:prstDash val="solid"/>
          </a:ln>
        </p:spPr>
      </p:sp>
      <p:sp>
        <p:nvSpPr>
          <p:cNvPr id="32" name="Text 30"/>
          <p:cNvSpPr/>
          <p:nvPr/>
        </p:nvSpPr>
        <p:spPr>
          <a:xfrm>
            <a:off x="4404360" y="450799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PyCountry / ISO country names</a:t>
            </a:r>
            <a:endParaRPr lang="en-US" sz="1350" dirty="0"/>
          </a:p>
        </p:txBody>
      </p:sp>
      <p:sp>
        <p:nvSpPr>
          <p:cNvPr id="33" name="Shape 31"/>
          <p:cNvSpPr/>
          <p:nvPr/>
        </p:nvSpPr>
        <p:spPr>
          <a:xfrm>
            <a:off x="7821168" y="4434840"/>
            <a:ext cx="3489960" cy="594360"/>
          </a:xfrm>
          <a:prstGeom prst="rect">
            <a:avLst/>
          </a:prstGeom>
          <a:solidFill>
            <a:srgbClr val="FFFFFF"/>
          </a:solidFill>
          <a:ln w="9525">
            <a:solidFill>
              <a:srgbClr val="E6E6E6"/>
            </a:solidFill>
            <a:prstDash val="solid"/>
          </a:ln>
        </p:spPr>
      </p:sp>
      <p:sp>
        <p:nvSpPr>
          <p:cNvPr id="34" name="Text 32"/>
          <p:cNvSpPr/>
          <p:nvPr/>
        </p:nvSpPr>
        <p:spPr>
          <a:xfrm>
            <a:off x="7894320" y="4507992"/>
            <a:ext cx="3343656" cy="448056"/>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453</a:t>
            </a:r>
            <a:endParaRPr lang="en-US" sz="1350" dirty="0"/>
          </a:p>
        </p:txBody>
      </p:sp>
      <p:sp>
        <p:nvSpPr>
          <p:cNvPr id="35" name="Text 33"/>
          <p:cNvSpPr/>
          <p:nvPr/>
        </p:nvSpPr>
        <p:spPr>
          <a:xfrm>
            <a:off x="868680" y="5212080"/>
            <a:ext cx="4572000" cy="32004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Output: 6,785 base entities</a:t>
            </a:r>
            <a:endParaRPr lang="en-US" sz="2200" dirty="0"/>
          </a:p>
        </p:txBody>
      </p:sp>
      <p:sp>
        <p:nvSpPr>
          <p:cNvPr id="37" name="Text 35"/>
          <p:cNvSpPr/>
          <p:nvPr/>
        </p:nvSpPr>
        <p:spPr>
          <a:xfrm>
            <a:off x="502920" y="6510528"/>
            <a:ext cx="6217920" cy="164592"/>
          </a:xfrm>
          <a:prstGeom prst="rect">
            <a:avLst/>
          </a:prstGeom>
          <a:noFill/>
          <a:ln/>
        </p:spPr>
        <p:txBody>
          <a:bodyPr wrap="square" lIns="0" tIns="0" rIns="0" bIns="0" rtlCol="0" anchor="ctr"/>
          <a:lstStyle/>
          <a:p>
            <a:pPr marL="0" indent="0">
              <a:buNone/>
            </a:pPr>
            <a:endParaRPr lang="en-US" sz="750" dirty="0"/>
          </a:p>
        </p:txBody>
      </p:sp>
      <p:pic>
        <p:nvPicPr>
          <p:cNvPr id="41" name="Picture 40">
            <a:extLst>
              <a:ext uri="{FF2B5EF4-FFF2-40B4-BE49-F238E27FC236}">
                <a16:creationId xmlns:a16="http://schemas.microsoft.com/office/drawing/2014/main" id="{84292256-3010-38A3-A9D4-BCB78AE7EFE6}"/>
              </a:ext>
            </a:extLst>
          </p:cNvPr>
          <p:cNvPicPr>
            <a:picLocks noChangeAspect="1"/>
          </p:cNvPicPr>
          <p:nvPr/>
        </p:nvPicPr>
        <p:blipFill>
          <a:blip r:embed="rId3"/>
          <a:stretch>
            <a:fillRect/>
          </a:stretch>
        </p:blipFill>
        <p:spPr>
          <a:xfrm>
            <a:off x="7821168" y="5120639"/>
            <a:ext cx="3850622" cy="12016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384048"/>
            <a:ext cx="4206240" cy="164592"/>
          </a:xfrm>
          <a:prstGeom prst="rect">
            <a:avLst/>
          </a:prstGeom>
          <a:noFill/>
          <a:ln/>
        </p:spPr>
        <p:txBody>
          <a:bodyPr wrap="square" lIns="0" tIns="0" rIns="0" bIns="0" rtlCol="0" anchor="ctr"/>
          <a:lstStyle/>
          <a:p>
            <a:pPr marL="0" indent="0">
              <a:buNone/>
            </a:pPr>
            <a:endParaRPr lang="en-US" sz="850" dirty="0"/>
          </a:p>
        </p:txBody>
      </p:sp>
      <p:sp>
        <p:nvSpPr>
          <p:cNvPr id="3" name="Text 1"/>
          <p:cNvSpPr/>
          <p:nvPr/>
        </p:nvSpPr>
        <p:spPr>
          <a:xfrm>
            <a:off x="640080" y="658368"/>
            <a:ext cx="10789920" cy="502920"/>
          </a:xfrm>
          <a:prstGeom prst="rect">
            <a:avLst/>
          </a:prstGeom>
          <a:noFill/>
          <a:ln/>
        </p:spPr>
        <p:txBody>
          <a:bodyPr wrap="square" lIns="0" tIns="0" rIns="0" bIns="0" rtlCol="0" anchor="ctr">
            <a:normAutofit/>
          </a:bodyPr>
          <a:lstStyle/>
          <a:p>
            <a:pPr marL="0" indent="0">
              <a:buNone/>
            </a:pPr>
            <a:r>
              <a:rPr lang="en-US" sz="2700" b="1" dirty="0">
                <a:solidFill>
                  <a:srgbClr val="111111"/>
                </a:solidFill>
                <a:latin typeface="Aptos Display" pitchFamily="34" charset="0"/>
                <a:ea typeface="Aptos Display" pitchFamily="34" charset="-122"/>
                <a:cs typeface="Aptos Display" pitchFamily="34" charset="-120"/>
              </a:rPr>
              <a:t>Method 2: NER expands the dictionaries</a:t>
            </a:r>
            <a:endParaRPr lang="en-US" sz="2700" dirty="0"/>
          </a:p>
        </p:txBody>
      </p:sp>
      <p:sp>
        <p:nvSpPr>
          <p:cNvPr id="4" name="Text 2"/>
          <p:cNvSpPr/>
          <p:nvPr/>
        </p:nvSpPr>
        <p:spPr>
          <a:xfrm>
            <a:off x="658368" y="1298448"/>
            <a:ext cx="10424160" cy="365760"/>
          </a:xfrm>
          <a:prstGeom prst="rect">
            <a:avLst/>
          </a:prstGeom>
          <a:noFill/>
          <a:ln/>
        </p:spPr>
        <p:txBody>
          <a:bodyPr wrap="square" lIns="0" tIns="0" rIns="0" bIns="0" rtlCol="0" anchor="ctr"/>
          <a:lstStyle/>
          <a:p>
            <a:pPr marL="0" indent="0">
              <a:buNone/>
            </a:pPr>
            <a:r>
              <a:rPr lang="en-US" sz="1900" b="1" dirty="0">
                <a:solidFill>
                  <a:srgbClr val="111111"/>
                </a:solidFill>
                <a:latin typeface="Aptos" pitchFamily="34" charset="0"/>
                <a:ea typeface="Aptos" pitchFamily="34" charset="-122"/>
                <a:cs typeface="Aptos" pitchFamily="34" charset="-120"/>
              </a:rPr>
              <a:t>Because labelled food-safety NER data is scarce, the paper uses two steps around BERT.</a:t>
            </a:r>
            <a:endParaRPr lang="en-US" sz="1900" dirty="0"/>
          </a:p>
        </p:txBody>
      </p:sp>
      <p:sp>
        <p:nvSpPr>
          <p:cNvPr id="5" name="Shape 3"/>
          <p:cNvSpPr/>
          <p:nvPr/>
        </p:nvSpPr>
        <p:spPr>
          <a:xfrm>
            <a:off x="822960" y="2103120"/>
            <a:ext cx="2331720" cy="960120"/>
          </a:xfrm>
          <a:prstGeom prst="roundRect">
            <a:avLst>
              <a:gd name="adj" fmla="val 7619"/>
            </a:avLst>
          </a:prstGeom>
          <a:solidFill>
            <a:srgbClr val="FFFFFF"/>
          </a:solidFill>
          <a:ln w="13335">
            <a:solidFill>
              <a:srgbClr val="111111"/>
            </a:solidFill>
            <a:prstDash val="solid"/>
          </a:ln>
        </p:spPr>
      </p:sp>
      <p:sp>
        <p:nvSpPr>
          <p:cNvPr id="6" name="Text 4"/>
          <p:cNvSpPr/>
          <p:nvPr/>
        </p:nvSpPr>
        <p:spPr>
          <a:xfrm>
            <a:off x="960120" y="2194560"/>
            <a:ext cx="2057400" cy="777240"/>
          </a:xfrm>
          <a:prstGeom prst="rect">
            <a:avLst/>
          </a:prstGeom>
          <a:noFill/>
          <a:ln/>
        </p:spPr>
        <p:txBody>
          <a:bodyPr wrap="square" lIns="0" tIns="0" rIns="0" bIns="0" rtlCol="0" anchor="ctr">
            <a:normAutofit/>
          </a:bodyPr>
          <a:lstStyle/>
          <a:p>
            <a:pPr marL="0" indent="0" algn="ctr">
              <a:buNone/>
            </a:pPr>
            <a:r>
              <a:rPr lang="en-US" sz="1500" b="1" dirty="0">
                <a:solidFill>
                  <a:srgbClr val="111111"/>
                </a:solidFill>
                <a:latin typeface="Aptos" pitchFamily="34" charset="0"/>
                <a:ea typeface="Aptos" pitchFamily="34" charset="-122"/>
                <a:cs typeface="Aptos" pitchFamily="34" charset="-120"/>
              </a:rPr>
              <a:t>DAP</a:t>
            </a:r>
            <a:endParaRPr lang="en-US" sz="1500" dirty="0"/>
          </a:p>
          <a:p>
            <a:pPr marL="0" indent="0" algn="ctr">
              <a:buNone/>
            </a:pPr>
            <a:r>
              <a:rPr lang="en-US" sz="1500" b="1" dirty="0">
                <a:solidFill>
                  <a:srgbClr val="111111"/>
                </a:solidFill>
                <a:latin typeface="Aptos" pitchFamily="34" charset="0"/>
                <a:ea typeface="Aptos" pitchFamily="34" charset="-122"/>
                <a:cs typeface="Aptos" pitchFamily="34" charset="-120"/>
              </a:rPr>
              <a:t>Domain Adaptive</a:t>
            </a:r>
            <a:endParaRPr lang="en-US" sz="1500" dirty="0"/>
          </a:p>
          <a:p>
            <a:pPr marL="0" indent="0" algn="ctr">
              <a:buNone/>
            </a:pPr>
            <a:r>
              <a:rPr lang="en-US" sz="1500" b="1" dirty="0">
                <a:solidFill>
                  <a:srgbClr val="111111"/>
                </a:solidFill>
                <a:latin typeface="Aptos" pitchFamily="34" charset="0"/>
                <a:ea typeface="Aptos" pitchFamily="34" charset="-122"/>
                <a:cs typeface="Aptos" pitchFamily="34" charset="-120"/>
              </a:rPr>
              <a:t>Pre-training</a:t>
            </a:r>
            <a:endParaRPr lang="en-US" sz="1500" dirty="0"/>
          </a:p>
        </p:txBody>
      </p:sp>
      <p:sp>
        <p:nvSpPr>
          <p:cNvPr id="7" name="Text 5"/>
          <p:cNvSpPr/>
          <p:nvPr/>
        </p:nvSpPr>
        <p:spPr>
          <a:xfrm>
            <a:off x="3429000" y="2084832"/>
            <a:ext cx="2697480" cy="1005840"/>
          </a:xfrm>
          <a:prstGeom prst="rect">
            <a:avLst/>
          </a:prstGeom>
          <a:noFill/>
          <a:ln/>
        </p:spPr>
        <p:txBody>
          <a:bodyPr wrap="square" lIns="0" tIns="0" rIns="0" bIns="0" rtlCol="0" anchor="ctr">
            <a:normAutofit/>
          </a:bodyPr>
          <a:lstStyle/>
          <a:p>
            <a:pPr marL="0" indent="0">
              <a:buNone/>
            </a:pPr>
            <a:r>
              <a:rPr lang="en-US" sz="1400" dirty="0">
                <a:solidFill>
                  <a:srgbClr val="111111"/>
                </a:solidFill>
                <a:latin typeface="Aptos" pitchFamily="34" charset="0"/>
                <a:ea typeface="Aptos" pitchFamily="34" charset="-122"/>
                <a:cs typeface="Aptos" pitchFamily="34" charset="-120"/>
              </a:rPr>
              <a:t>Unlabelled food-safety text</a:t>
            </a:r>
            <a:endParaRPr lang="en-US" sz="1400" dirty="0"/>
          </a:p>
          <a:p>
            <a:pPr marL="0" indent="0">
              <a:buNone/>
            </a:pPr>
            <a:r>
              <a:rPr lang="en-US" sz="1400" dirty="0">
                <a:solidFill>
                  <a:srgbClr val="111111"/>
                </a:solidFill>
                <a:latin typeface="Aptos" pitchFamily="34" charset="0"/>
                <a:ea typeface="Aptos" pitchFamily="34" charset="-122"/>
                <a:cs typeface="Aptos" pitchFamily="34" charset="-120"/>
              </a:rPr>
              <a:t>• news articles</a:t>
            </a:r>
            <a:endParaRPr lang="en-US" sz="1400" dirty="0"/>
          </a:p>
          <a:p>
            <a:pPr marL="0" indent="0">
              <a:buNone/>
            </a:pPr>
            <a:r>
              <a:rPr lang="en-US" sz="1400" dirty="0">
                <a:solidFill>
                  <a:srgbClr val="111111"/>
                </a:solidFill>
                <a:latin typeface="Aptos" pitchFamily="34" charset="0"/>
                <a:ea typeface="Aptos" pitchFamily="34" charset="-122"/>
                <a:cs typeface="Aptos" pitchFamily="34" charset="-120"/>
              </a:rPr>
              <a:t>• feedback reports</a:t>
            </a:r>
            <a:endParaRPr lang="en-US" sz="1400" dirty="0"/>
          </a:p>
          <a:p>
            <a:pPr marL="0" indent="0">
              <a:buNone/>
            </a:pPr>
            <a:r>
              <a:rPr lang="en-US" sz="1400" dirty="0">
                <a:solidFill>
                  <a:srgbClr val="111111"/>
                </a:solidFill>
                <a:latin typeface="Aptos" pitchFamily="34" charset="0"/>
                <a:ea typeface="Aptos" pitchFamily="34" charset="-122"/>
                <a:cs typeface="Aptos" pitchFamily="34" charset="-120"/>
              </a:rPr>
              <a:t>• food blogs/news</a:t>
            </a:r>
            <a:endParaRPr lang="en-US" sz="1400" dirty="0"/>
          </a:p>
        </p:txBody>
      </p:sp>
      <p:sp>
        <p:nvSpPr>
          <p:cNvPr id="9" name="Shape 7"/>
          <p:cNvSpPr/>
          <p:nvPr/>
        </p:nvSpPr>
        <p:spPr>
          <a:xfrm>
            <a:off x="7132320" y="2103120"/>
            <a:ext cx="2331720" cy="960120"/>
          </a:xfrm>
          <a:prstGeom prst="roundRect">
            <a:avLst>
              <a:gd name="adj" fmla="val 7619"/>
            </a:avLst>
          </a:prstGeom>
          <a:solidFill>
            <a:srgbClr val="FFFFFF"/>
          </a:solidFill>
          <a:ln w="13335">
            <a:solidFill>
              <a:srgbClr val="111111"/>
            </a:solidFill>
            <a:prstDash val="solid"/>
          </a:ln>
        </p:spPr>
      </p:sp>
      <p:sp>
        <p:nvSpPr>
          <p:cNvPr id="10" name="Text 8"/>
          <p:cNvSpPr/>
          <p:nvPr/>
        </p:nvSpPr>
        <p:spPr>
          <a:xfrm>
            <a:off x="7269480" y="2194560"/>
            <a:ext cx="2057400" cy="777240"/>
          </a:xfrm>
          <a:prstGeom prst="rect">
            <a:avLst/>
          </a:prstGeom>
          <a:noFill/>
          <a:ln/>
        </p:spPr>
        <p:txBody>
          <a:bodyPr wrap="square" lIns="0" tIns="0" rIns="0" bIns="0" rtlCol="0" anchor="ctr">
            <a:normAutofit/>
          </a:bodyPr>
          <a:lstStyle/>
          <a:p>
            <a:pPr marL="0" indent="0" algn="ctr">
              <a:buNone/>
            </a:pPr>
            <a:r>
              <a:rPr lang="en-US" sz="1500" b="1" dirty="0">
                <a:solidFill>
                  <a:srgbClr val="111111"/>
                </a:solidFill>
                <a:latin typeface="Aptos" pitchFamily="34" charset="0"/>
                <a:ea typeface="Aptos" pitchFamily="34" charset="-122"/>
                <a:cs typeface="Aptos" pitchFamily="34" charset="-120"/>
              </a:rPr>
              <a:t>TSF</a:t>
            </a:r>
            <a:endParaRPr lang="en-US" sz="1500" dirty="0"/>
          </a:p>
          <a:p>
            <a:pPr marL="0" indent="0" algn="ctr">
              <a:buNone/>
            </a:pPr>
            <a:r>
              <a:rPr lang="en-US" sz="1500" b="1" dirty="0">
                <a:solidFill>
                  <a:srgbClr val="111111"/>
                </a:solidFill>
                <a:latin typeface="Aptos" pitchFamily="34" charset="0"/>
                <a:ea typeface="Aptos" pitchFamily="34" charset="-122"/>
                <a:cs typeface="Aptos" pitchFamily="34" charset="-120"/>
              </a:rPr>
              <a:t>Task Specific</a:t>
            </a:r>
            <a:endParaRPr lang="en-US" sz="1500" dirty="0"/>
          </a:p>
          <a:p>
            <a:pPr marL="0" indent="0" algn="ctr">
              <a:buNone/>
            </a:pPr>
            <a:r>
              <a:rPr lang="en-US" sz="1500" b="1" dirty="0">
                <a:solidFill>
                  <a:srgbClr val="111111"/>
                </a:solidFill>
                <a:latin typeface="Aptos" pitchFamily="34" charset="0"/>
                <a:ea typeface="Aptos" pitchFamily="34" charset="-122"/>
                <a:cs typeface="Aptos" pitchFamily="34" charset="-120"/>
              </a:rPr>
              <a:t>Fine-tuning</a:t>
            </a:r>
            <a:endParaRPr lang="en-US" sz="1500" dirty="0"/>
          </a:p>
        </p:txBody>
      </p:sp>
      <p:sp>
        <p:nvSpPr>
          <p:cNvPr id="11" name="Text 9"/>
          <p:cNvSpPr/>
          <p:nvPr/>
        </p:nvSpPr>
        <p:spPr>
          <a:xfrm>
            <a:off x="9738360" y="2057400"/>
            <a:ext cx="2057400" cy="1097280"/>
          </a:xfrm>
          <a:prstGeom prst="rect">
            <a:avLst/>
          </a:prstGeom>
          <a:noFill/>
          <a:ln/>
        </p:spPr>
        <p:txBody>
          <a:bodyPr wrap="square" lIns="0" tIns="0" rIns="0" bIns="0" rtlCol="0" anchor="ctr">
            <a:normAutofit/>
          </a:bodyPr>
          <a:lstStyle/>
          <a:p>
            <a:pPr marL="0" indent="0">
              <a:buNone/>
            </a:pPr>
            <a:r>
              <a:rPr lang="en-US" sz="1350" dirty="0">
                <a:solidFill>
                  <a:srgbClr val="111111"/>
                </a:solidFill>
                <a:latin typeface="Aptos" pitchFamily="34" charset="0"/>
                <a:ea typeface="Aptos" pitchFamily="34" charset="-122"/>
                <a:cs typeface="Aptos" pitchFamily="34" charset="-120"/>
              </a:rPr>
              <a:t>Labelled related datasets</a:t>
            </a:r>
            <a:endParaRPr lang="en-US" sz="1350" dirty="0"/>
          </a:p>
          <a:p>
            <a:pPr marL="0" indent="0">
              <a:buNone/>
            </a:pPr>
            <a:r>
              <a:rPr lang="en-US" sz="1350" dirty="0">
                <a:solidFill>
                  <a:srgbClr val="111111"/>
                </a:solidFill>
                <a:latin typeface="Aptos" pitchFamily="34" charset="0"/>
                <a:ea typeface="Aptos" pitchFamily="34" charset="-122"/>
                <a:cs typeface="Aptos" pitchFamily="34" charset="-120"/>
              </a:rPr>
              <a:t>• biomedical disease</a:t>
            </a:r>
            <a:endParaRPr lang="en-US" sz="1350" dirty="0"/>
          </a:p>
          <a:p>
            <a:pPr marL="0" indent="0">
              <a:buNone/>
            </a:pPr>
            <a:r>
              <a:rPr lang="en-US" sz="1350" dirty="0">
                <a:solidFill>
                  <a:srgbClr val="111111"/>
                </a:solidFill>
                <a:latin typeface="Aptos" pitchFamily="34" charset="0"/>
                <a:ea typeface="Aptos" pitchFamily="34" charset="-122"/>
                <a:cs typeface="Aptos" pitchFamily="34" charset="-120"/>
              </a:rPr>
              <a:t>• clinical symptoms</a:t>
            </a:r>
            <a:endParaRPr lang="en-US" sz="1350" dirty="0"/>
          </a:p>
          <a:p>
            <a:pPr marL="0" indent="0">
              <a:buNone/>
            </a:pPr>
            <a:r>
              <a:rPr lang="en-US" sz="1350" dirty="0">
                <a:solidFill>
                  <a:srgbClr val="111111"/>
                </a:solidFill>
                <a:latin typeface="Aptos" pitchFamily="34" charset="0"/>
                <a:ea typeface="Aptos" pitchFamily="34" charset="-122"/>
                <a:cs typeface="Aptos" pitchFamily="34" charset="-120"/>
              </a:rPr>
              <a:t>• food + location NER</a:t>
            </a:r>
            <a:endParaRPr lang="en-US" sz="1350" dirty="0"/>
          </a:p>
        </p:txBody>
      </p:sp>
      <p:sp>
        <p:nvSpPr>
          <p:cNvPr id="13" name="Text 11"/>
          <p:cNvSpPr/>
          <p:nvPr/>
        </p:nvSpPr>
        <p:spPr>
          <a:xfrm>
            <a:off x="868680" y="4005072"/>
            <a:ext cx="2926080" cy="228600"/>
          </a:xfrm>
          <a:prstGeom prst="rect">
            <a:avLst/>
          </a:prstGeom>
          <a:noFill/>
          <a:ln/>
        </p:spPr>
        <p:txBody>
          <a:bodyPr wrap="square" lIns="0" tIns="0" rIns="0" bIns="0" rtlCol="0" anchor="ctr"/>
          <a:lstStyle/>
          <a:p>
            <a:pPr marL="0" indent="0">
              <a:buNone/>
            </a:pPr>
            <a:endParaRPr lang="en-US" sz="1500" dirty="0"/>
          </a:p>
        </p:txBody>
      </p:sp>
      <p:sp>
        <p:nvSpPr>
          <p:cNvPr id="14" name="Text 12"/>
          <p:cNvSpPr/>
          <p:nvPr/>
        </p:nvSpPr>
        <p:spPr>
          <a:xfrm>
            <a:off x="899160" y="3475481"/>
            <a:ext cx="5227320" cy="2422399"/>
          </a:xfrm>
          <a:prstGeom prst="rect">
            <a:avLst/>
          </a:prstGeom>
          <a:noFill/>
          <a:ln/>
        </p:spPr>
        <p:txBody>
          <a:bodyPr wrap="square" lIns="0" tIns="0" rIns="0" bIns="0" rtlCol="0" anchor="ctr"/>
          <a:lstStyle/>
          <a:p>
            <a:r>
              <a:rPr lang="en-IN" sz="1600" dirty="0"/>
              <a:t>BERT is first exposed to large amounts of unlabelled food-safety text, such as news articles, customer feedback reports, food blogs, and food-related news.</a:t>
            </a:r>
          </a:p>
          <a:p>
            <a:endParaRPr lang="en-IN" sz="1600" dirty="0"/>
          </a:p>
          <a:p>
            <a:r>
              <a:rPr lang="en-IN" sz="1600" dirty="0"/>
              <a:t>Using masked language modelling, some words or spans of text are deliberately hidden, and the model is trained to predict the missing content from the surrounding context. Through this process, the model learns food-safety vocabulary, writing style, and domain-specific terms such as disease names, symptoms, foods, and local places.</a:t>
            </a:r>
          </a:p>
          <a:p>
            <a:endParaRPr lang="en-IN" sz="1600" dirty="0"/>
          </a:p>
        </p:txBody>
      </p:sp>
      <p:sp>
        <p:nvSpPr>
          <p:cNvPr id="15" name="Text 13"/>
          <p:cNvSpPr/>
          <p:nvPr/>
        </p:nvSpPr>
        <p:spPr>
          <a:xfrm>
            <a:off x="868680" y="4846320"/>
            <a:ext cx="10241280" cy="320040"/>
          </a:xfrm>
          <a:prstGeom prst="rect">
            <a:avLst/>
          </a:prstGeom>
          <a:noFill/>
          <a:ln/>
        </p:spPr>
        <p:txBody>
          <a:bodyPr wrap="square" lIns="0" tIns="0" rIns="0" bIns="0" rtlCol="0" anchor="ctr"/>
          <a:lstStyle/>
          <a:p>
            <a:pPr marL="0" indent="0">
              <a:buNone/>
            </a:pPr>
            <a:endParaRPr lang="en-US" sz="1900" dirty="0"/>
          </a:p>
        </p:txBody>
      </p:sp>
      <p:sp>
        <p:nvSpPr>
          <p:cNvPr id="16" name="Text 14"/>
          <p:cNvSpPr/>
          <p:nvPr/>
        </p:nvSpPr>
        <p:spPr>
          <a:xfrm>
            <a:off x="502920" y="6510528"/>
            <a:ext cx="6217920" cy="164592"/>
          </a:xfrm>
          <a:prstGeom prst="rect">
            <a:avLst/>
          </a:prstGeom>
          <a:noFill/>
          <a:ln/>
        </p:spPr>
        <p:txBody>
          <a:bodyPr wrap="square" lIns="0" tIns="0" rIns="0" bIns="0" rtlCol="0" anchor="ctr"/>
          <a:lstStyle/>
          <a:p>
            <a:pPr marL="0" indent="0">
              <a:buNone/>
            </a:pPr>
            <a:endParaRPr lang="en-US" sz="750" dirty="0"/>
          </a:p>
        </p:txBody>
      </p:sp>
      <p:sp>
        <p:nvSpPr>
          <p:cNvPr id="17" name="Text 15"/>
          <p:cNvSpPr/>
          <p:nvPr/>
        </p:nvSpPr>
        <p:spPr>
          <a:xfrm>
            <a:off x="11356848" y="6473952"/>
            <a:ext cx="320040" cy="164592"/>
          </a:xfrm>
          <a:prstGeom prst="rect">
            <a:avLst/>
          </a:prstGeom>
          <a:noFill/>
          <a:ln/>
        </p:spPr>
        <p:txBody>
          <a:bodyPr wrap="square" lIns="0" tIns="0" rIns="0" bIns="0" rtlCol="0" anchor="ctr"/>
          <a:lstStyle/>
          <a:p>
            <a:pPr marL="0" indent="0" algn="r">
              <a:buNone/>
            </a:pPr>
            <a:endParaRPr lang="en-US" sz="800" dirty="0"/>
          </a:p>
        </p:txBody>
      </p:sp>
      <p:sp>
        <p:nvSpPr>
          <p:cNvPr id="8" name="TextBox 7">
            <a:extLst>
              <a:ext uri="{FF2B5EF4-FFF2-40B4-BE49-F238E27FC236}">
                <a16:creationId xmlns:a16="http://schemas.microsoft.com/office/drawing/2014/main" id="{501E6947-0C02-0278-13AA-66DD086D3531}"/>
              </a:ext>
            </a:extLst>
          </p:cNvPr>
          <p:cNvSpPr txBox="1"/>
          <p:nvPr/>
        </p:nvSpPr>
        <p:spPr>
          <a:xfrm>
            <a:off x="6888498" y="3509772"/>
            <a:ext cx="4541502" cy="1569660"/>
          </a:xfrm>
          <a:prstGeom prst="rect">
            <a:avLst/>
          </a:prstGeom>
          <a:noFill/>
        </p:spPr>
        <p:txBody>
          <a:bodyPr wrap="square" rtlCol="0">
            <a:spAutoFit/>
          </a:bodyPr>
          <a:lstStyle/>
          <a:p>
            <a:r>
              <a:rPr lang="en-IN" sz="1600" dirty="0"/>
              <a:t>BERT is then trained on labelled NER datasets from related domains such as biomedical, clinical, food, and general NER datasets.</a:t>
            </a:r>
          </a:p>
          <a:p>
            <a:r>
              <a:rPr lang="en-IN" sz="1600" dirty="0"/>
              <a:t>This teaches the model how to label words as Disease, Food, Location, or Symptom.</a:t>
            </a:r>
          </a:p>
          <a:p>
            <a:endParaRPr lang="en-IN"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384048"/>
            <a:ext cx="4206240" cy="164592"/>
          </a:xfrm>
          <a:prstGeom prst="rect">
            <a:avLst/>
          </a:prstGeom>
          <a:noFill/>
          <a:ln/>
        </p:spPr>
        <p:txBody>
          <a:bodyPr wrap="square" lIns="0" tIns="0" rIns="0" bIns="0" rtlCol="0" anchor="ctr"/>
          <a:lstStyle/>
          <a:p>
            <a:pPr marL="0" indent="0">
              <a:buNone/>
            </a:pPr>
            <a:r>
              <a:rPr lang="en-US" sz="850" b="1" dirty="0">
                <a:solidFill>
                  <a:srgbClr val="777777"/>
                </a:solidFill>
                <a:latin typeface="Aptos" pitchFamily="34" charset="0"/>
                <a:ea typeface="Aptos" pitchFamily="34" charset="-122"/>
                <a:cs typeface="Aptos" pitchFamily="34" charset="-120"/>
              </a:rPr>
              <a:t>NAMED ENTITY MATCHING</a:t>
            </a:r>
            <a:endParaRPr lang="en-US" sz="850" dirty="0"/>
          </a:p>
        </p:txBody>
      </p:sp>
      <p:sp>
        <p:nvSpPr>
          <p:cNvPr id="3" name="Text 1"/>
          <p:cNvSpPr/>
          <p:nvPr/>
        </p:nvSpPr>
        <p:spPr>
          <a:xfrm>
            <a:off x="640080" y="658368"/>
            <a:ext cx="10789920" cy="502920"/>
          </a:xfrm>
          <a:prstGeom prst="rect">
            <a:avLst/>
          </a:prstGeom>
          <a:noFill/>
          <a:ln/>
        </p:spPr>
        <p:txBody>
          <a:bodyPr wrap="square" lIns="0" tIns="0" rIns="0" bIns="0" rtlCol="0" anchor="ctr">
            <a:normAutofit/>
          </a:bodyPr>
          <a:lstStyle/>
          <a:p>
            <a:pPr marL="0" indent="0">
              <a:buNone/>
            </a:pPr>
            <a:r>
              <a:rPr lang="en-US" sz="2700" b="1" dirty="0">
                <a:solidFill>
                  <a:srgbClr val="111111"/>
                </a:solidFill>
                <a:latin typeface="Aptos Display" pitchFamily="34" charset="0"/>
                <a:ea typeface="Aptos Display" pitchFamily="34" charset="-122"/>
                <a:cs typeface="Aptos Display" pitchFamily="34" charset="-120"/>
              </a:rPr>
              <a:t>Method 3: NEM performs final extraction</a:t>
            </a:r>
            <a:endParaRPr lang="en-US" sz="2700" dirty="0"/>
          </a:p>
        </p:txBody>
      </p:sp>
      <p:sp>
        <p:nvSpPr>
          <p:cNvPr id="4" name="Text 2"/>
          <p:cNvSpPr/>
          <p:nvPr/>
        </p:nvSpPr>
        <p:spPr>
          <a:xfrm>
            <a:off x="658368" y="1298448"/>
            <a:ext cx="10789920" cy="402336"/>
          </a:xfrm>
          <a:prstGeom prst="rect">
            <a:avLst/>
          </a:prstGeom>
          <a:noFill/>
          <a:ln/>
        </p:spPr>
        <p:txBody>
          <a:bodyPr wrap="square" lIns="0" tIns="0" rIns="0" bIns="0" rtlCol="0" anchor="ctr">
            <a:normAutofit fontScale="85000" lnSpcReduction="20000"/>
          </a:bodyPr>
          <a:lstStyle/>
          <a:p>
            <a:pPr marL="0" indent="0">
              <a:buNone/>
            </a:pPr>
            <a:r>
              <a:rPr lang="en-US" sz="1850" b="1" dirty="0">
                <a:solidFill>
                  <a:srgbClr val="111111"/>
                </a:solidFill>
                <a:latin typeface="Aptos" pitchFamily="34" charset="0"/>
                <a:ea typeface="Aptos" pitchFamily="34" charset="-122"/>
                <a:cs typeface="Aptos" pitchFamily="34" charset="-120"/>
              </a:rPr>
              <a:t>NEM is a simple dictionary-matching step: split text into sentences, clean it, then match entity terms from the augmented dictionaries.</a:t>
            </a:r>
            <a:endParaRPr lang="en-US" sz="1850" dirty="0"/>
          </a:p>
        </p:txBody>
      </p:sp>
      <p:sp>
        <p:nvSpPr>
          <p:cNvPr id="5" name="Shape 3"/>
          <p:cNvSpPr/>
          <p:nvPr/>
        </p:nvSpPr>
        <p:spPr>
          <a:xfrm>
            <a:off x="822960" y="2148840"/>
            <a:ext cx="1828800" cy="594360"/>
          </a:xfrm>
          <a:prstGeom prst="roundRect">
            <a:avLst>
              <a:gd name="adj" fmla="val 12308"/>
            </a:avLst>
          </a:prstGeom>
          <a:solidFill>
            <a:srgbClr val="FFFFFF"/>
          </a:solidFill>
          <a:ln w="13335">
            <a:solidFill>
              <a:srgbClr val="111111"/>
            </a:solidFill>
            <a:prstDash val="solid"/>
          </a:ln>
        </p:spPr>
      </p:sp>
      <p:sp>
        <p:nvSpPr>
          <p:cNvPr id="6" name="Text 4"/>
          <p:cNvSpPr/>
          <p:nvPr/>
        </p:nvSpPr>
        <p:spPr>
          <a:xfrm>
            <a:off x="960120" y="2240280"/>
            <a:ext cx="1554480" cy="411480"/>
          </a:xfrm>
          <a:prstGeom prst="rect">
            <a:avLst/>
          </a:prstGeom>
          <a:noFill/>
          <a:ln/>
        </p:spPr>
        <p:txBody>
          <a:bodyPr wrap="square" lIns="0" tIns="0" rIns="0" bIns="0" rtlCol="0" anchor="ctr">
            <a:normAutofit/>
          </a:bodyPr>
          <a:lstStyle/>
          <a:p>
            <a:pPr marL="0" indent="0" algn="ctr">
              <a:buNone/>
            </a:pPr>
            <a:r>
              <a:rPr lang="en-US" sz="1500" b="1" dirty="0">
                <a:solidFill>
                  <a:srgbClr val="111111"/>
                </a:solidFill>
                <a:latin typeface="Aptos" pitchFamily="34" charset="0"/>
                <a:ea typeface="Aptos" pitchFamily="34" charset="-122"/>
                <a:cs typeface="Aptos" pitchFamily="34" charset="-120"/>
              </a:rPr>
              <a:t>Input sentence</a:t>
            </a:r>
            <a:endParaRPr lang="en-US" sz="1500" dirty="0"/>
          </a:p>
        </p:txBody>
      </p:sp>
      <p:sp>
        <p:nvSpPr>
          <p:cNvPr id="7" name="Text 5"/>
          <p:cNvSpPr/>
          <p:nvPr/>
        </p:nvSpPr>
        <p:spPr>
          <a:xfrm>
            <a:off x="2926080" y="2249424"/>
            <a:ext cx="7863840" cy="228600"/>
          </a:xfrm>
          <a:prstGeom prst="rect">
            <a:avLst/>
          </a:prstGeom>
          <a:noFill/>
          <a:ln/>
        </p:spPr>
        <p:txBody>
          <a:bodyPr wrap="square" lIns="0" tIns="0" rIns="0" bIns="0" rtlCol="0" anchor="ctr"/>
          <a:lstStyle/>
          <a:p>
            <a:pPr marL="0" indent="0">
              <a:buNone/>
            </a:pPr>
            <a:r>
              <a:rPr lang="en-US" sz="1600" dirty="0">
                <a:solidFill>
                  <a:srgbClr val="111111"/>
                </a:solidFill>
                <a:latin typeface="Aptos" pitchFamily="34" charset="0"/>
                <a:ea typeface="Aptos" pitchFamily="34" charset="-122"/>
                <a:cs typeface="Aptos" pitchFamily="34" charset="-120"/>
              </a:rPr>
              <a:t>“... suspected food poisoning when she ate chicken rice ...”</a:t>
            </a:r>
            <a:endParaRPr lang="en-US" sz="1600" dirty="0"/>
          </a:p>
        </p:txBody>
      </p:sp>
      <p:sp>
        <p:nvSpPr>
          <p:cNvPr id="8" name="Shape 6"/>
          <p:cNvSpPr/>
          <p:nvPr/>
        </p:nvSpPr>
        <p:spPr>
          <a:xfrm>
            <a:off x="822960" y="3017520"/>
            <a:ext cx="10515600" cy="0"/>
          </a:xfrm>
          <a:prstGeom prst="line">
            <a:avLst/>
          </a:prstGeom>
          <a:noFill/>
          <a:ln w="12700">
            <a:solidFill>
              <a:srgbClr val="E6E6E6"/>
            </a:solidFill>
            <a:prstDash val="solid"/>
          </a:ln>
        </p:spPr>
      </p:sp>
      <p:sp>
        <p:nvSpPr>
          <p:cNvPr id="9" name="Text 7"/>
          <p:cNvSpPr/>
          <p:nvPr/>
        </p:nvSpPr>
        <p:spPr>
          <a:xfrm>
            <a:off x="868680" y="3255264"/>
            <a:ext cx="2926080" cy="274320"/>
          </a:xfrm>
          <a:prstGeom prst="rect">
            <a:avLst/>
          </a:prstGeom>
          <a:noFill/>
          <a:ln/>
        </p:spPr>
        <p:txBody>
          <a:bodyPr wrap="square" lIns="0" tIns="0" rIns="0" bIns="0" rtlCol="0" anchor="ctr"/>
          <a:lstStyle/>
          <a:p>
            <a:pPr marL="0" indent="0">
              <a:buNone/>
            </a:pPr>
            <a:r>
              <a:rPr lang="en-US" sz="1800" b="1" dirty="0">
                <a:solidFill>
                  <a:srgbClr val="111111"/>
                </a:solidFill>
                <a:latin typeface="Aptos" pitchFamily="34" charset="0"/>
                <a:ea typeface="Aptos" pitchFamily="34" charset="-122"/>
                <a:cs typeface="Aptos" pitchFamily="34" charset="-120"/>
              </a:rPr>
              <a:t>Longest n-gram first</a:t>
            </a:r>
            <a:endParaRPr lang="en-US" sz="1800" dirty="0"/>
          </a:p>
        </p:txBody>
      </p:sp>
      <p:sp>
        <p:nvSpPr>
          <p:cNvPr id="10" name="Text 8"/>
          <p:cNvSpPr/>
          <p:nvPr/>
        </p:nvSpPr>
        <p:spPr>
          <a:xfrm>
            <a:off x="868680" y="3675888"/>
            <a:ext cx="9784080" cy="320040"/>
          </a:xfrm>
          <a:prstGeom prst="rect">
            <a:avLst/>
          </a:prstGeom>
          <a:noFill/>
          <a:ln/>
        </p:spPr>
        <p:txBody>
          <a:bodyPr wrap="square" lIns="0" tIns="0" rIns="0" bIns="0" rtlCol="0" anchor="ctr">
            <a:normAutofit/>
          </a:bodyPr>
          <a:lstStyle/>
          <a:p>
            <a:pPr marL="0" indent="0">
              <a:buNone/>
            </a:pPr>
            <a:r>
              <a:rPr lang="en-US" sz="1600" dirty="0">
                <a:solidFill>
                  <a:srgbClr val="111111"/>
                </a:solidFill>
                <a:latin typeface="Aptos" pitchFamily="34" charset="0"/>
                <a:ea typeface="Aptos" pitchFamily="34" charset="-122"/>
                <a:cs typeface="Aptos" pitchFamily="34" charset="-120"/>
              </a:rPr>
              <a:t>If the dictionary contains “chicken rice”, “chicken”, and “rice”, NEM keeps the longest match: “chicken rice”.</a:t>
            </a:r>
            <a:endParaRPr lang="en-US" sz="1600" dirty="0"/>
          </a:p>
        </p:txBody>
      </p:sp>
      <p:sp>
        <p:nvSpPr>
          <p:cNvPr id="11" name="Shape 9"/>
          <p:cNvSpPr/>
          <p:nvPr/>
        </p:nvSpPr>
        <p:spPr>
          <a:xfrm>
            <a:off x="822960" y="4251960"/>
            <a:ext cx="10515600" cy="0"/>
          </a:xfrm>
          <a:prstGeom prst="line">
            <a:avLst/>
          </a:prstGeom>
          <a:noFill/>
          <a:ln w="12700">
            <a:solidFill>
              <a:srgbClr val="E6E6E6"/>
            </a:solidFill>
            <a:prstDash val="solid"/>
          </a:ln>
        </p:spPr>
      </p:sp>
      <p:sp>
        <p:nvSpPr>
          <p:cNvPr id="12" name="Shape 10"/>
          <p:cNvSpPr/>
          <p:nvPr/>
        </p:nvSpPr>
        <p:spPr>
          <a:xfrm>
            <a:off x="1005840" y="4709160"/>
            <a:ext cx="2468880" cy="731520"/>
          </a:xfrm>
          <a:prstGeom prst="roundRect">
            <a:avLst>
              <a:gd name="adj" fmla="val 10000"/>
            </a:avLst>
          </a:prstGeom>
          <a:solidFill>
            <a:srgbClr val="FFFFFF"/>
          </a:solidFill>
          <a:ln w="13335">
            <a:solidFill>
              <a:srgbClr val="111111"/>
            </a:solidFill>
            <a:prstDash val="solid"/>
          </a:ln>
        </p:spPr>
      </p:sp>
      <p:sp>
        <p:nvSpPr>
          <p:cNvPr id="13" name="Text 11"/>
          <p:cNvSpPr/>
          <p:nvPr/>
        </p:nvSpPr>
        <p:spPr>
          <a:xfrm>
            <a:off x="1143000" y="4800600"/>
            <a:ext cx="2194560" cy="548640"/>
          </a:xfrm>
          <a:prstGeom prst="rect">
            <a:avLst/>
          </a:prstGeom>
          <a:noFill/>
          <a:ln/>
        </p:spPr>
        <p:txBody>
          <a:bodyPr wrap="square" lIns="0" tIns="0" rIns="0" bIns="0" rtlCol="0" anchor="ctr">
            <a:normAutofit/>
          </a:bodyPr>
          <a:lstStyle/>
          <a:p>
            <a:pPr marL="0" indent="0" algn="ctr">
              <a:buNone/>
            </a:pPr>
            <a:r>
              <a:rPr lang="en-US" sz="1400" dirty="0">
                <a:solidFill>
                  <a:srgbClr val="111111"/>
                </a:solidFill>
                <a:latin typeface="Aptos" pitchFamily="34" charset="0"/>
                <a:ea typeface="Aptos" pitchFamily="34" charset="-122"/>
                <a:cs typeface="Aptos" pitchFamily="34" charset="-120"/>
              </a:rPr>
              <a:t>food poisoning</a:t>
            </a:r>
            <a:endParaRPr lang="en-US" sz="1400" dirty="0"/>
          </a:p>
          <a:p>
            <a:pPr marL="0" indent="0" algn="ctr">
              <a:buNone/>
            </a:pPr>
            <a:r>
              <a:rPr lang="en-US" sz="1400" dirty="0">
                <a:solidFill>
                  <a:srgbClr val="111111"/>
                </a:solidFill>
                <a:latin typeface="Aptos" pitchFamily="34" charset="0"/>
                <a:ea typeface="Aptos" pitchFamily="34" charset="-122"/>
                <a:cs typeface="Aptos" pitchFamily="34" charset="-120"/>
              </a:rPr>
              <a:t>Disease</a:t>
            </a:r>
            <a:endParaRPr lang="en-US" sz="1400" dirty="0"/>
          </a:p>
        </p:txBody>
      </p:sp>
      <p:sp>
        <p:nvSpPr>
          <p:cNvPr id="14" name="Shape 12"/>
          <p:cNvSpPr/>
          <p:nvPr/>
        </p:nvSpPr>
        <p:spPr>
          <a:xfrm>
            <a:off x="3931920" y="4709160"/>
            <a:ext cx="2468880" cy="731520"/>
          </a:xfrm>
          <a:prstGeom prst="roundRect">
            <a:avLst>
              <a:gd name="adj" fmla="val 10000"/>
            </a:avLst>
          </a:prstGeom>
          <a:solidFill>
            <a:srgbClr val="FFFFFF"/>
          </a:solidFill>
          <a:ln w="13335">
            <a:solidFill>
              <a:srgbClr val="111111"/>
            </a:solidFill>
            <a:prstDash val="solid"/>
          </a:ln>
        </p:spPr>
      </p:sp>
      <p:sp>
        <p:nvSpPr>
          <p:cNvPr id="15" name="Text 13"/>
          <p:cNvSpPr/>
          <p:nvPr/>
        </p:nvSpPr>
        <p:spPr>
          <a:xfrm>
            <a:off x="4069080" y="4800600"/>
            <a:ext cx="2194560" cy="548640"/>
          </a:xfrm>
          <a:prstGeom prst="rect">
            <a:avLst/>
          </a:prstGeom>
          <a:noFill/>
          <a:ln/>
        </p:spPr>
        <p:txBody>
          <a:bodyPr wrap="square" lIns="0" tIns="0" rIns="0" bIns="0" rtlCol="0" anchor="ctr">
            <a:normAutofit/>
          </a:bodyPr>
          <a:lstStyle/>
          <a:p>
            <a:pPr marL="0" indent="0" algn="ctr">
              <a:buNone/>
            </a:pPr>
            <a:r>
              <a:rPr lang="en-US" sz="1400" dirty="0">
                <a:solidFill>
                  <a:srgbClr val="111111"/>
                </a:solidFill>
                <a:latin typeface="Aptos" pitchFamily="34" charset="0"/>
                <a:ea typeface="Aptos" pitchFamily="34" charset="-122"/>
                <a:cs typeface="Aptos" pitchFamily="34" charset="-120"/>
              </a:rPr>
              <a:t>chicken rice</a:t>
            </a:r>
            <a:endParaRPr lang="en-US" sz="1400" dirty="0"/>
          </a:p>
          <a:p>
            <a:pPr marL="0" indent="0" algn="ctr">
              <a:buNone/>
            </a:pPr>
            <a:r>
              <a:rPr lang="en-US" sz="1400" dirty="0">
                <a:solidFill>
                  <a:srgbClr val="111111"/>
                </a:solidFill>
                <a:latin typeface="Aptos" pitchFamily="34" charset="0"/>
                <a:ea typeface="Aptos" pitchFamily="34" charset="-122"/>
                <a:cs typeface="Aptos" pitchFamily="34" charset="-120"/>
              </a:rPr>
              <a:t>Food</a:t>
            </a:r>
            <a:endParaRPr lang="en-US" sz="1400" dirty="0"/>
          </a:p>
        </p:txBody>
      </p:sp>
      <p:sp>
        <p:nvSpPr>
          <p:cNvPr id="16" name="Text 14"/>
          <p:cNvSpPr/>
          <p:nvPr/>
        </p:nvSpPr>
        <p:spPr>
          <a:xfrm>
            <a:off x="6903720" y="4873752"/>
            <a:ext cx="4389120" cy="320040"/>
          </a:xfrm>
          <a:prstGeom prst="rect">
            <a:avLst/>
          </a:prstGeom>
          <a:noFill/>
          <a:ln/>
        </p:spPr>
        <p:txBody>
          <a:bodyPr wrap="square" lIns="0" tIns="0" rIns="0" bIns="0" rtlCol="0" anchor="ctr"/>
          <a:lstStyle/>
          <a:p>
            <a:pPr marL="0" indent="0">
              <a:buNone/>
            </a:pPr>
            <a:r>
              <a:rPr lang="en-US" sz="1600" dirty="0">
                <a:solidFill>
                  <a:srgbClr val="666666"/>
                </a:solidFill>
                <a:latin typeface="Aptos" pitchFamily="34" charset="0"/>
                <a:ea typeface="Aptos" pitchFamily="34" charset="-122"/>
                <a:cs typeface="Aptos" pitchFamily="34" charset="-120"/>
              </a:rPr>
              <a:t>This keeps extraction precise and reduces noisy partial matches.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8368" y="384048"/>
            <a:ext cx="4206240" cy="164592"/>
          </a:xfrm>
          <a:prstGeom prst="rect">
            <a:avLst/>
          </a:prstGeom>
          <a:noFill/>
          <a:ln/>
        </p:spPr>
        <p:txBody>
          <a:bodyPr wrap="square" lIns="0" tIns="0" rIns="0" bIns="0" rtlCol="0" anchor="ctr"/>
          <a:lstStyle/>
          <a:p>
            <a:pPr marL="0" indent="0">
              <a:buNone/>
            </a:pPr>
            <a:r>
              <a:rPr lang="en-US" sz="850" b="1" dirty="0">
                <a:solidFill>
                  <a:srgbClr val="777777"/>
                </a:solidFill>
                <a:latin typeface="Aptos" pitchFamily="34" charset="0"/>
                <a:ea typeface="Aptos" pitchFamily="34" charset="-122"/>
                <a:cs typeface="Aptos" pitchFamily="34" charset="-120"/>
              </a:rPr>
              <a:t>MAIN FINDINGS</a:t>
            </a:r>
            <a:endParaRPr lang="en-US" sz="850" dirty="0"/>
          </a:p>
        </p:txBody>
      </p:sp>
      <p:sp>
        <p:nvSpPr>
          <p:cNvPr id="3" name="Text 1"/>
          <p:cNvSpPr/>
          <p:nvPr/>
        </p:nvSpPr>
        <p:spPr>
          <a:xfrm>
            <a:off x="640080" y="658368"/>
            <a:ext cx="10789920" cy="502920"/>
          </a:xfrm>
          <a:prstGeom prst="rect">
            <a:avLst/>
          </a:prstGeom>
          <a:noFill/>
          <a:ln/>
        </p:spPr>
        <p:txBody>
          <a:bodyPr wrap="square" lIns="0" tIns="0" rIns="0" bIns="0" rtlCol="0" anchor="ctr">
            <a:normAutofit/>
          </a:bodyPr>
          <a:lstStyle/>
          <a:p>
            <a:pPr marL="0" indent="0">
              <a:buNone/>
            </a:pPr>
            <a:r>
              <a:rPr lang="en-US" sz="2700" b="1" dirty="0">
                <a:solidFill>
                  <a:srgbClr val="111111"/>
                </a:solidFill>
                <a:latin typeface="Aptos Display" pitchFamily="34" charset="0"/>
                <a:ea typeface="Aptos Display" pitchFamily="34" charset="-122"/>
                <a:cs typeface="Aptos Display" pitchFamily="34" charset="-120"/>
              </a:rPr>
              <a:t>Results: augmented dictionaries work much better</a:t>
            </a:r>
            <a:endParaRPr lang="en-US" sz="2700" dirty="0"/>
          </a:p>
        </p:txBody>
      </p:sp>
      <p:sp>
        <p:nvSpPr>
          <p:cNvPr id="4" name="Shape 2"/>
          <p:cNvSpPr/>
          <p:nvPr/>
        </p:nvSpPr>
        <p:spPr>
          <a:xfrm>
            <a:off x="713232" y="1554480"/>
            <a:ext cx="2157984" cy="521208"/>
          </a:xfrm>
          <a:prstGeom prst="rect">
            <a:avLst/>
          </a:prstGeom>
          <a:solidFill>
            <a:srgbClr val="FFFFFF"/>
          </a:solidFill>
          <a:ln w="12700">
            <a:solidFill>
              <a:srgbClr val="111111"/>
            </a:solidFill>
            <a:prstDash val="solid"/>
          </a:ln>
        </p:spPr>
      </p:sp>
      <p:sp>
        <p:nvSpPr>
          <p:cNvPr id="5" name="Text 3"/>
          <p:cNvSpPr/>
          <p:nvPr/>
        </p:nvSpPr>
        <p:spPr>
          <a:xfrm>
            <a:off x="786384" y="1627632"/>
            <a:ext cx="2011680" cy="374904"/>
          </a:xfrm>
          <a:prstGeom prst="rect">
            <a:avLst/>
          </a:prstGeom>
          <a:noFill/>
          <a:ln/>
        </p:spPr>
        <p:txBody>
          <a:bodyPr wrap="square" lIns="0" tIns="0" rIns="0" bIns="0" rtlCol="0" anchor="ctr">
            <a:normAutofit/>
          </a:bodyPr>
          <a:lstStyle/>
          <a:p>
            <a:pPr marL="0" indent="0">
              <a:buNone/>
            </a:pPr>
            <a:r>
              <a:rPr lang="en-US" sz="1300" b="1" dirty="0">
                <a:solidFill>
                  <a:srgbClr val="111111"/>
                </a:solidFill>
                <a:latin typeface="Aptos" pitchFamily="34" charset="0"/>
                <a:ea typeface="Aptos" pitchFamily="34" charset="-122"/>
                <a:cs typeface="Aptos" pitchFamily="34" charset="-120"/>
              </a:rPr>
              <a:t>Dataset</a:t>
            </a:r>
            <a:endParaRPr lang="en-US" sz="1300" dirty="0"/>
          </a:p>
        </p:txBody>
      </p:sp>
      <p:sp>
        <p:nvSpPr>
          <p:cNvPr id="6" name="Shape 4"/>
          <p:cNvSpPr/>
          <p:nvPr/>
        </p:nvSpPr>
        <p:spPr>
          <a:xfrm>
            <a:off x="2871216" y="1554480"/>
            <a:ext cx="2157984" cy="521208"/>
          </a:xfrm>
          <a:prstGeom prst="rect">
            <a:avLst/>
          </a:prstGeom>
          <a:solidFill>
            <a:srgbClr val="FFFFFF"/>
          </a:solidFill>
          <a:ln w="12700">
            <a:solidFill>
              <a:srgbClr val="111111"/>
            </a:solidFill>
            <a:prstDash val="solid"/>
          </a:ln>
        </p:spPr>
      </p:sp>
      <p:sp>
        <p:nvSpPr>
          <p:cNvPr id="7" name="Text 5"/>
          <p:cNvSpPr/>
          <p:nvPr/>
        </p:nvSpPr>
        <p:spPr>
          <a:xfrm>
            <a:off x="2944368" y="1627632"/>
            <a:ext cx="2011680" cy="374904"/>
          </a:xfrm>
          <a:prstGeom prst="rect">
            <a:avLst/>
          </a:prstGeom>
          <a:noFill/>
          <a:ln/>
        </p:spPr>
        <p:txBody>
          <a:bodyPr wrap="square" lIns="0" tIns="0" rIns="0" bIns="0" rtlCol="0" anchor="ctr">
            <a:normAutofit/>
          </a:bodyPr>
          <a:lstStyle/>
          <a:p>
            <a:pPr marL="0" indent="0">
              <a:buNone/>
            </a:pPr>
            <a:r>
              <a:rPr lang="en-US" sz="1300" b="1" dirty="0">
                <a:solidFill>
                  <a:srgbClr val="111111"/>
                </a:solidFill>
                <a:latin typeface="Aptos" pitchFamily="34" charset="0"/>
                <a:ea typeface="Aptos" pitchFamily="34" charset="-122"/>
                <a:cs typeface="Aptos" pitchFamily="34" charset="-120"/>
              </a:rPr>
              <a:t>Dictionary</a:t>
            </a:r>
            <a:endParaRPr lang="en-US" sz="1300" dirty="0"/>
          </a:p>
        </p:txBody>
      </p:sp>
      <p:sp>
        <p:nvSpPr>
          <p:cNvPr id="8" name="Shape 6"/>
          <p:cNvSpPr/>
          <p:nvPr/>
        </p:nvSpPr>
        <p:spPr>
          <a:xfrm>
            <a:off x="5029200" y="1554480"/>
            <a:ext cx="2157984" cy="521208"/>
          </a:xfrm>
          <a:prstGeom prst="rect">
            <a:avLst/>
          </a:prstGeom>
          <a:solidFill>
            <a:srgbClr val="FFFFFF"/>
          </a:solidFill>
          <a:ln w="12700">
            <a:solidFill>
              <a:srgbClr val="111111"/>
            </a:solidFill>
            <a:prstDash val="solid"/>
          </a:ln>
        </p:spPr>
      </p:sp>
      <p:sp>
        <p:nvSpPr>
          <p:cNvPr id="9" name="Text 7"/>
          <p:cNvSpPr/>
          <p:nvPr/>
        </p:nvSpPr>
        <p:spPr>
          <a:xfrm>
            <a:off x="5102352" y="1627632"/>
            <a:ext cx="2011680" cy="374904"/>
          </a:xfrm>
          <a:prstGeom prst="rect">
            <a:avLst/>
          </a:prstGeom>
          <a:noFill/>
          <a:ln/>
        </p:spPr>
        <p:txBody>
          <a:bodyPr wrap="square" lIns="0" tIns="0" rIns="0" bIns="0" rtlCol="0" anchor="ctr">
            <a:normAutofit/>
          </a:bodyPr>
          <a:lstStyle/>
          <a:p>
            <a:pPr marL="0" indent="0">
              <a:buNone/>
            </a:pPr>
            <a:r>
              <a:rPr lang="en-US" sz="1300" b="1" dirty="0">
                <a:solidFill>
                  <a:srgbClr val="111111"/>
                </a:solidFill>
                <a:latin typeface="Aptos" pitchFamily="34" charset="0"/>
                <a:ea typeface="Aptos" pitchFamily="34" charset="-122"/>
                <a:cs typeface="Aptos" pitchFamily="34" charset="-120"/>
              </a:rPr>
              <a:t>Precision</a:t>
            </a:r>
            <a:endParaRPr lang="en-US" sz="1300" dirty="0"/>
          </a:p>
        </p:txBody>
      </p:sp>
      <p:sp>
        <p:nvSpPr>
          <p:cNvPr id="10" name="Shape 8"/>
          <p:cNvSpPr/>
          <p:nvPr/>
        </p:nvSpPr>
        <p:spPr>
          <a:xfrm>
            <a:off x="7187184" y="1554480"/>
            <a:ext cx="2157984" cy="521208"/>
          </a:xfrm>
          <a:prstGeom prst="rect">
            <a:avLst/>
          </a:prstGeom>
          <a:solidFill>
            <a:srgbClr val="FFFFFF"/>
          </a:solidFill>
          <a:ln w="12700">
            <a:solidFill>
              <a:srgbClr val="111111"/>
            </a:solidFill>
            <a:prstDash val="solid"/>
          </a:ln>
        </p:spPr>
      </p:sp>
      <p:sp>
        <p:nvSpPr>
          <p:cNvPr id="11" name="Text 9"/>
          <p:cNvSpPr/>
          <p:nvPr/>
        </p:nvSpPr>
        <p:spPr>
          <a:xfrm>
            <a:off x="7260336" y="1627632"/>
            <a:ext cx="2011680" cy="374904"/>
          </a:xfrm>
          <a:prstGeom prst="rect">
            <a:avLst/>
          </a:prstGeom>
          <a:noFill/>
          <a:ln/>
        </p:spPr>
        <p:txBody>
          <a:bodyPr wrap="square" lIns="0" tIns="0" rIns="0" bIns="0" rtlCol="0" anchor="ctr">
            <a:normAutofit/>
          </a:bodyPr>
          <a:lstStyle/>
          <a:p>
            <a:pPr marL="0" indent="0">
              <a:buNone/>
            </a:pPr>
            <a:r>
              <a:rPr lang="en-US" sz="1300" b="1" dirty="0">
                <a:solidFill>
                  <a:srgbClr val="111111"/>
                </a:solidFill>
                <a:latin typeface="Aptos" pitchFamily="34" charset="0"/>
                <a:ea typeface="Aptos" pitchFamily="34" charset="-122"/>
                <a:cs typeface="Aptos" pitchFamily="34" charset="-120"/>
              </a:rPr>
              <a:t>Recall</a:t>
            </a:r>
            <a:endParaRPr lang="en-US" sz="1300" dirty="0"/>
          </a:p>
        </p:txBody>
      </p:sp>
      <p:sp>
        <p:nvSpPr>
          <p:cNvPr id="12" name="Shape 10"/>
          <p:cNvSpPr/>
          <p:nvPr/>
        </p:nvSpPr>
        <p:spPr>
          <a:xfrm>
            <a:off x="9345168" y="1554480"/>
            <a:ext cx="2157984" cy="521208"/>
          </a:xfrm>
          <a:prstGeom prst="rect">
            <a:avLst/>
          </a:prstGeom>
          <a:solidFill>
            <a:srgbClr val="FFFFFF"/>
          </a:solidFill>
          <a:ln w="12700">
            <a:solidFill>
              <a:srgbClr val="111111"/>
            </a:solidFill>
            <a:prstDash val="solid"/>
          </a:ln>
        </p:spPr>
      </p:sp>
      <p:sp>
        <p:nvSpPr>
          <p:cNvPr id="13" name="Text 11"/>
          <p:cNvSpPr/>
          <p:nvPr/>
        </p:nvSpPr>
        <p:spPr>
          <a:xfrm>
            <a:off x="9418320" y="1627632"/>
            <a:ext cx="2011680" cy="374904"/>
          </a:xfrm>
          <a:prstGeom prst="rect">
            <a:avLst/>
          </a:prstGeom>
          <a:noFill/>
          <a:ln/>
        </p:spPr>
        <p:txBody>
          <a:bodyPr wrap="square" lIns="0" tIns="0" rIns="0" bIns="0" rtlCol="0" anchor="ctr">
            <a:normAutofit/>
          </a:bodyPr>
          <a:lstStyle/>
          <a:p>
            <a:pPr marL="0" indent="0">
              <a:buNone/>
            </a:pPr>
            <a:r>
              <a:rPr lang="en-US" sz="1300" b="1" dirty="0">
                <a:solidFill>
                  <a:srgbClr val="111111"/>
                </a:solidFill>
                <a:latin typeface="Aptos" pitchFamily="34" charset="0"/>
                <a:ea typeface="Aptos" pitchFamily="34" charset="-122"/>
                <a:cs typeface="Aptos" pitchFamily="34" charset="-120"/>
              </a:rPr>
              <a:t>F1</a:t>
            </a:r>
            <a:endParaRPr lang="en-US" sz="1300" dirty="0"/>
          </a:p>
        </p:txBody>
      </p:sp>
      <p:sp>
        <p:nvSpPr>
          <p:cNvPr id="14" name="Shape 12"/>
          <p:cNvSpPr/>
          <p:nvPr/>
        </p:nvSpPr>
        <p:spPr>
          <a:xfrm>
            <a:off x="713232" y="2075688"/>
            <a:ext cx="2157984" cy="521208"/>
          </a:xfrm>
          <a:prstGeom prst="rect">
            <a:avLst/>
          </a:prstGeom>
          <a:solidFill>
            <a:srgbClr val="FFFFFF"/>
          </a:solidFill>
          <a:ln w="9525">
            <a:solidFill>
              <a:srgbClr val="E6E6E6"/>
            </a:solidFill>
            <a:prstDash val="solid"/>
          </a:ln>
        </p:spPr>
      </p:sp>
      <p:sp>
        <p:nvSpPr>
          <p:cNvPr id="15" name="Text 13"/>
          <p:cNvSpPr/>
          <p:nvPr/>
        </p:nvSpPr>
        <p:spPr>
          <a:xfrm>
            <a:off x="786384" y="2148840"/>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News articles</a:t>
            </a:r>
            <a:endParaRPr lang="en-US" sz="1300" dirty="0"/>
          </a:p>
        </p:txBody>
      </p:sp>
      <p:sp>
        <p:nvSpPr>
          <p:cNvPr id="16" name="Shape 14"/>
          <p:cNvSpPr/>
          <p:nvPr/>
        </p:nvSpPr>
        <p:spPr>
          <a:xfrm>
            <a:off x="2871216" y="2075688"/>
            <a:ext cx="2157984" cy="521208"/>
          </a:xfrm>
          <a:prstGeom prst="rect">
            <a:avLst/>
          </a:prstGeom>
          <a:solidFill>
            <a:srgbClr val="FFFFFF"/>
          </a:solidFill>
          <a:ln w="9525">
            <a:solidFill>
              <a:srgbClr val="E6E6E6"/>
            </a:solidFill>
            <a:prstDash val="solid"/>
          </a:ln>
        </p:spPr>
      </p:sp>
      <p:sp>
        <p:nvSpPr>
          <p:cNvPr id="17" name="Text 15"/>
          <p:cNvSpPr/>
          <p:nvPr/>
        </p:nvSpPr>
        <p:spPr>
          <a:xfrm>
            <a:off x="2944368" y="2148840"/>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Base</a:t>
            </a:r>
            <a:endParaRPr lang="en-US" sz="1300" dirty="0"/>
          </a:p>
        </p:txBody>
      </p:sp>
      <p:sp>
        <p:nvSpPr>
          <p:cNvPr id="18" name="Shape 16"/>
          <p:cNvSpPr/>
          <p:nvPr/>
        </p:nvSpPr>
        <p:spPr>
          <a:xfrm>
            <a:off x="5029200" y="2075688"/>
            <a:ext cx="2157984" cy="521208"/>
          </a:xfrm>
          <a:prstGeom prst="rect">
            <a:avLst/>
          </a:prstGeom>
          <a:solidFill>
            <a:srgbClr val="FFFFFF"/>
          </a:solidFill>
          <a:ln w="9525">
            <a:solidFill>
              <a:srgbClr val="E6E6E6"/>
            </a:solidFill>
            <a:prstDash val="solid"/>
          </a:ln>
        </p:spPr>
      </p:sp>
      <p:sp>
        <p:nvSpPr>
          <p:cNvPr id="19" name="Text 17"/>
          <p:cNvSpPr/>
          <p:nvPr/>
        </p:nvSpPr>
        <p:spPr>
          <a:xfrm>
            <a:off x="5102352" y="2148840"/>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56.19%</a:t>
            </a:r>
            <a:endParaRPr lang="en-US" sz="1300" dirty="0"/>
          </a:p>
        </p:txBody>
      </p:sp>
      <p:sp>
        <p:nvSpPr>
          <p:cNvPr id="20" name="Shape 18"/>
          <p:cNvSpPr/>
          <p:nvPr/>
        </p:nvSpPr>
        <p:spPr>
          <a:xfrm>
            <a:off x="7187184" y="2075688"/>
            <a:ext cx="2157984" cy="521208"/>
          </a:xfrm>
          <a:prstGeom prst="rect">
            <a:avLst/>
          </a:prstGeom>
          <a:solidFill>
            <a:srgbClr val="FFFFFF"/>
          </a:solidFill>
          <a:ln w="9525">
            <a:solidFill>
              <a:srgbClr val="E6E6E6"/>
            </a:solidFill>
            <a:prstDash val="solid"/>
          </a:ln>
        </p:spPr>
      </p:sp>
      <p:sp>
        <p:nvSpPr>
          <p:cNvPr id="21" name="Text 19"/>
          <p:cNvSpPr/>
          <p:nvPr/>
        </p:nvSpPr>
        <p:spPr>
          <a:xfrm>
            <a:off x="7260336" y="2148840"/>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30.70%</a:t>
            </a:r>
            <a:endParaRPr lang="en-US" sz="1300" dirty="0"/>
          </a:p>
        </p:txBody>
      </p:sp>
      <p:sp>
        <p:nvSpPr>
          <p:cNvPr id="22" name="Shape 20"/>
          <p:cNvSpPr/>
          <p:nvPr/>
        </p:nvSpPr>
        <p:spPr>
          <a:xfrm>
            <a:off x="9345168" y="2075688"/>
            <a:ext cx="2157984" cy="521208"/>
          </a:xfrm>
          <a:prstGeom prst="rect">
            <a:avLst/>
          </a:prstGeom>
          <a:solidFill>
            <a:srgbClr val="FFFFFF"/>
          </a:solidFill>
          <a:ln w="9525">
            <a:solidFill>
              <a:srgbClr val="E6E6E6"/>
            </a:solidFill>
            <a:prstDash val="solid"/>
          </a:ln>
        </p:spPr>
      </p:sp>
      <p:sp>
        <p:nvSpPr>
          <p:cNvPr id="23" name="Text 21"/>
          <p:cNvSpPr/>
          <p:nvPr/>
        </p:nvSpPr>
        <p:spPr>
          <a:xfrm>
            <a:off x="9418320" y="2148840"/>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39.71%</a:t>
            </a:r>
            <a:endParaRPr lang="en-US" sz="1300" dirty="0"/>
          </a:p>
        </p:txBody>
      </p:sp>
      <p:sp>
        <p:nvSpPr>
          <p:cNvPr id="24" name="Shape 22"/>
          <p:cNvSpPr/>
          <p:nvPr/>
        </p:nvSpPr>
        <p:spPr>
          <a:xfrm>
            <a:off x="713232" y="2596896"/>
            <a:ext cx="2157984" cy="521208"/>
          </a:xfrm>
          <a:prstGeom prst="rect">
            <a:avLst/>
          </a:prstGeom>
          <a:solidFill>
            <a:srgbClr val="FFFFFF"/>
          </a:solidFill>
          <a:ln w="9525">
            <a:solidFill>
              <a:srgbClr val="E6E6E6"/>
            </a:solidFill>
            <a:prstDash val="solid"/>
          </a:ln>
        </p:spPr>
      </p:sp>
      <p:sp>
        <p:nvSpPr>
          <p:cNvPr id="25" name="Text 23"/>
          <p:cNvSpPr/>
          <p:nvPr/>
        </p:nvSpPr>
        <p:spPr>
          <a:xfrm>
            <a:off x="786384" y="2670048"/>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News articles</a:t>
            </a:r>
            <a:endParaRPr lang="en-US" sz="1300" dirty="0"/>
          </a:p>
        </p:txBody>
      </p:sp>
      <p:sp>
        <p:nvSpPr>
          <p:cNvPr id="26" name="Shape 24"/>
          <p:cNvSpPr/>
          <p:nvPr/>
        </p:nvSpPr>
        <p:spPr>
          <a:xfrm>
            <a:off x="2871216" y="2596896"/>
            <a:ext cx="2157984" cy="521208"/>
          </a:xfrm>
          <a:prstGeom prst="rect">
            <a:avLst/>
          </a:prstGeom>
          <a:solidFill>
            <a:srgbClr val="FFFFFF"/>
          </a:solidFill>
          <a:ln w="9525">
            <a:solidFill>
              <a:srgbClr val="E6E6E6"/>
            </a:solidFill>
            <a:prstDash val="solid"/>
          </a:ln>
        </p:spPr>
      </p:sp>
      <p:sp>
        <p:nvSpPr>
          <p:cNvPr id="27" name="Text 25"/>
          <p:cNvSpPr/>
          <p:nvPr/>
        </p:nvSpPr>
        <p:spPr>
          <a:xfrm>
            <a:off x="2944368" y="2670048"/>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Augmented</a:t>
            </a:r>
            <a:endParaRPr lang="en-US" sz="1300" dirty="0"/>
          </a:p>
        </p:txBody>
      </p:sp>
      <p:sp>
        <p:nvSpPr>
          <p:cNvPr id="28" name="Shape 26"/>
          <p:cNvSpPr/>
          <p:nvPr/>
        </p:nvSpPr>
        <p:spPr>
          <a:xfrm>
            <a:off x="5029200" y="2596896"/>
            <a:ext cx="2157984" cy="521208"/>
          </a:xfrm>
          <a:prstGeom prst="rect">
            <a:avLst/>
          </a:prstGeom>
          <a:solidFill>
            <a:srgbClr val="FFFFFF"/>
          </a:solidFill>
          <a:ln w="9525">
            <a:solidFill>
              <a:srgbClr val="E6E6E6"/>
            </a:solidFill>
            <a:prstDash val="solid"/>
          </a:ln>
        </p:spPr>
      </p:sp>
      <p:sp>
        <p:nvSpPr>
          <p:cNvPr id="29" name="Text 27"/>
          <p:cNvSpPr/>
          <p:nvPr/>
        </p:nvSpPr>
        <p:spPr>
          <a:xfrm>
            <a:off x="5102352" y="2670048"/>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69.58%</a:t>
            </a:r>
            <a:endParaRPr lang="en-US" sz="1300" dirty="0"/>
          </a:p>
        </p:txBody>
      </p:sp>
      <p:sp>
        <p:nvSpPr>
          <p:cNvPr id="30" name="Shape 28"/>
          <p:cNvSpPr/>
          <p:nvPr/>
        </p:nvSpPr>
        <p:spPr>
          <a:xfrm>
            <a:off x="7187184" y="2596896"/>
            <a:ext cx="2157984" cy="521208"/>
          </a:xfrm>
          <a:prstGeom prst="rect">
            <a:avLst/>
          </a:prstGeom>
          <a:solidFill>
            <a:srgbClr val="FFFFFF"/>
          </a:solidFill>
          <a:ln w="9525">
            <a:solidFill>
              <a:srgbClr val="E6E6E6"/>
            </a:solidFill>
            <a:prstDash val="solid"/>
          </a:ln>
        </p:spPr>
      </p:sp>
      <p:sp>
        <p:nvSpPr>
          <p:cNvPr id="31" name="Text 29"/>
          <p:cNvSpPr/>
          <p:nvPr/>
        </p:nvSpPr>
        <p:spPr>
          <a:xfrm>
            <a:off x="7260336" y="2670048"/>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84.54%</a:t>
            </a:r>
            <a:endParaRPr lang="en-US" sz="1300" dirty="0"/>
          </a:p>
        </p:txBody>
      </p:sp>
      <p:sp>
        <p:nvSpPr>
          <p:cNvPr id="32" name="Shape 30"/>
          <p:cNvSpPr/>
          <p:nvPr/>
        </p:nvSpPr>
        <p:spPr>
          <a:xfrm>
            <a:off x="9345168" y="2596896"/>
            <a:ext cx="2157984" cy="521208"/>
          </a:xfrm>
          <a:prstGeom prst="rect">
            <a:avLst/>
          </a:prstGeom>
          <a:solidFill>
            <a:srgbClr val="FFFFFF"/>
          </a:solidFill>
          <a:ln w="9525">
            <a:solidFill>
              <a:srgbClr val="E6E6E6"/>
            </a:solidFill>
            <a:prstDash val="solid"/>
          </a:ln>
        </p:spPr>
      </p:sp>
      <p:sp>
        <p:nvSpPr>
          <p:cNvPr id="33" name="Text 31"/>
          <p:cNvSpPr/>
          <p:nvPr/>
        </p:nvSpPr>
        <p:spPr>
          <a:xfrm>
            <a:off x="9418320" y="2670048"/>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76.33%</a:t>
            </a:r>
            <a:endParaRPr lang="en-US" sz="1300" dirty="0"/>
          </a:p>
        </p:txBody>
      </p:sp>
      <p:sp>
        <p:nvSpPr>
          <p:cNvPr id="34" name="Shape 32"/>
          <p:cNvSpPr/>
          <p:nvPr/>
        </p:nvSpPr>
        <p:spPr>
          <a:xfrm>
            <a:off x="713232" y="3118104"/>
            <a:ext cx="2157984" cy="521208"/>
          </a:xfrm>
          <a:prstGeom prst="rect">
            <a:avLst/>
          </a:prstGeom>
          <a:solidFill>
            <a:srgbClr val="FFFFFF"/>
          </a:solidFill>
          <a:ln w="9525">
            <a:solidFill>
              <a:srgbClr val="E6E6E6"/>
            </a:solidFill>
            <a:prstDash val="solid"/>
          </a:ln>
        </p:spPr>
      </p:sp>
      <p:sp>
        <p:nvSpPr>
          <p:cNvPr id="35" name="Text 33"/>
          <p:cNvSpPr/>
          <p:nvPr/>
        </p:nvSpPr>
        <p:spPr>
          <a:xfrm>
            <a:off x="786384" y="3191256"/>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CRMS feedback</a:t>
            </a:r>
            <a:endParaRPr lang="en-US" sz="1300" dirty="0"/>
          </a:p>
        </p:txBody>
      </p:sp>
      <p:sp>
        <p:nvSpPr>
          <p:cNvPr id="36" name="Shape 34"/>
          <p:cNvSpPr/>
          <p:nvPr/>
        </p:nvSpPr>
        <p:spPr>
          <a:xfrm>
            <a:off x="2871216" y="3118104"/>
            <a:ext cx="2157984" cy="521208"/>
          </a:xfrm>
          <a:prstGeom prst="rect">
            <a:avLst/>
          </a:prstGeom>
          <a:solidFill>
            <a:srgbClr val="FFFFFF"/>
          </a:solidFill>
          <a:ln w="9525">
            <a:solidFill>
              <a:srgbClr val="E6E6E6"/>
            </a:solidFill>
            <a:prstDash val="solid"/>
          </a:ln>
        </p:spPr>
      </p:sp>
      <p:sp>
        <p:nvSpPr>
          <p:cNvPr id="37" name="Text 35"/>
          <p:cNvSpPr/>
          <p:nvPr/>
        </p:nvSpPr>
        <p:spPr>
          <a:xfrm>
            <a:off x="2944368" y="3191256"/>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Base</a:t>
            </a:r>
            <a:endParaRPr lang="en-US" sz="1300" dirty="0"/>
          </a:p>
        </p:txBody>
      </p:sp>
      <p:sp>
        <p:nvSpPr>
          <p:cNvPr id="38" name="Shape 36"/>
          <p:cNvSpPr/>
          <p:nvPr/>
        </p:nvSpPr>
        <p:spPr>
          <a:xfrm>
            <a:off x="5029200" y="3118104"/>
            <a:ext cx="2157984" cy="521208"/>
          </a:xfrm>
          <a:prstGeom prst="rect">
            <a:avLst/>
          </a:prstGeom>
          <a:solidFill>
            <a:srgbClr val="FFFFFF"/>
          </a:solidFill>
          <a:ln w="9525">
            <a:solidFill>
              <a:srgbClr val="E6E6E6"/>
            </a:solidFill>
            <a:prstDash val="solid"/>
          </a:ln>
        </p:spPr>
      </p:sp>
      <p:sp>
        <p:nvSpPr>
          <p:cNvPr id="39" name="Text 37"/>
          <p:cNvSpPr/>
          <p:nvPr/>
        </p:nvSpPr>
        <p:spPr>
          <a:xfrm>
            <a:off x="5102352" y="3191256"/>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52.77%</a:t>
            </a:r>
            <a:endParaRPr lang="en-US" sz="1300" dirty="0"/>
          </a:p>
        </p:txBody>
      </p:sp>
      <p:sp>
        <p:nvSpPr>
          <p:cNvPr id="40" name="Shape 38"/>
          <p:cNvSpPr/>
          <p:nvPr/>
        </p:nvSpPr>
        <p:spPr>
          <a:xfrm>
            <a:off x="7187184" y="3118104"/>
            <a:ext cx="2157984" cy="521208"/>
          </a:xfrm>
          <a:prstGeom prst="rect">
            <a:avLst/>
          </a:prstGeom>
          <a:solidFill>
            <a:srgbClr val="FFFFFF"/>
          </a:solidFill>
          <a:ln w="9525">
            <a:solidFill>
              <a:srgbClr val="E6E6E6"/>
            </a:solidFill>
            <a:prstDash val="solid"/>
          </a:ln>
        </p:spPr>
      </p:sp>
      <p:sp>
        <p:nvSpPr>
          <p:cNvPr id="41" name="Text 39"/>
          <p:cNvSpPr/>
          <p:nvPr/>
        </p:nvSpPr>
        <p:spPr>
          <a:xfrm>
            <a:off x="7260336" y="3191256"/>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27.71%</a:t>
            </a:r>
            <a:endParaRPr lang="en-US" sz="1300" dirty="0"/>
          </a:p>
        </p:txBody>
      </p:sp>
      <p:sp>
        <p:nvSpPr>
          <p:cNvPr id="42" name="Shape 40"/>
          <p:cNvSpPr/>
          <p:nvPr/>
        </p:nvSpPr>
        <p:spPr>
          <a:xfrm>
            <a:off x="9345168" y="3118104"/>
            <a:ext cx="2157984" cy="521208"/>
          </a:xfrm>
          <a:prstGeom prst="rect">
            <a:avLst/>
          </a:prstGeom>
          <a:solidFill>
            <a:srgbClr val="FFFFFF"/>
          </a:solidFill>
          <a:ln w="9525">
            <a:solidFill>
              <a:srgbClr val="E6E6E6"/>
            </a:solidFill>
            <a:prstDash val="solid"/>
          </a:ln>
        </p:spPr>
      </p:sp>
      <p:sp>
        <p:nvSpPr>
          <p:cNvPr id="43" name="Text 41"/>
          <p:cNvSpPr/>
          <p:nvPr/>
        </p:nvSpPr>
        <p:spPr>
          <a:xfrm>
            <a:off x="9418320" y="3191256"/>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36.34%</a:t>
            </a:r>
            <a:endParaRPr lang="en-US" sz="1300" dirty="0"/>
          </a:p>
        </p:txBody>
      </p:sp>
      <p:sp>
        <p:nvSpPr>
          <p:cNvPr id="44" name="Shape 42"/>
          <p:cNvSpPr/>
          <p:nvPr/>
        </p:nvSpPr>
        <p:spPr>
          <a:xfrm>
            <a:off x="713232" y="3639312"/>
            <a:ext cx="2157984" cy="521208"/>
          </a:xfrm>
          <a:prstGeom prst="rect">
            <a:avLst/>
          </a:prstGeom>
          <a:solidFill>
            <a:srgbClr val="FFFFFF"/>
          </a:solidFill>
          <a:ln w="9525">
            <a:solidFill>
              <a:srgbClr val="E6E6E6"/>
            </a:solidFill>
            <a:prstDash val="solid"/>
          </a:ln>
        </p:spPr>
      </p:sp>
      <p:sp>
        <p:nvSpPr>
          <p:cNvPr id="45" name="Text 43"/>
          <p:cNvSpPr/>
          <p:nvPr/>
        </p:nvSpPr>
        <p:spPr>
          <a:xfrm>
            <a:off x="786384" y="3712464"/>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CRMS feedback</a:t>
            </a:r>
            <a:endParaRPr lang="en-US" sz="1300" dirty="0"/>
          </a:p>
        </p:txBody>
      </p:sp>
      <p:sp>
        <p:nvSpPr>
          <p:cNvPr id="46" name="Shape 44"/>
          <p:cNvSpPr/>
          <p:nvPr/>
        </p:nvSpPr>
        <p:spPr>
          <a:xfrm>
            <a:off x="2871216" y="3639312"/>
            <a:ext cx="2157984" cy="521208"/>
          </a:xfrm>
          <a:prstGeom prst="rect">
            <a:avLst/>
          </a:prstGeom>
          <a:solidFill>
            <a:srgbClr val="FFFFFF"/>
          </a:solidFill>
          <a:ln w="9525">
            <a:solidFill>
              <a:srgbClr val="E6E6E6"/>
            </a:solidFill>
            <a:prstDash val="solid"/>
          </a:ln>
        </p:spPr>
      </p:sp>
      <p:sp>
        <p:nvSpPr>
          <p:cNvPr id="47" name="Text 45"/>
          <p:cNvSpPr/>
          <p:nvPr/>
        </p:nvSpPr>
        <p:spPr>
          <a:xfrm>
            <a:off x="2944368" y="3712464"/>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Augmented</a:t>
            </a:r>
            <a:endParaRPr lang="en-US" sz="1300" dirty="0"/>
          </a:p>
        </p:txBody>
      </p:sp>
      <p:sp>
        <p:nvSpPr>
          <p:cNvPr id="48" name="Shape 46"/>
          <p:cNvSpPr/>
          <p:nvPr/>
        </p:nvSpPr>
        <p:spPr>
          <a:xfrm>
            <a:off x="5029200" y="3639312"/>
            <a:ext cx="2157984" cy="521208"/>
          </a:xfrm>
          <a:prstGeom prst="rect">
            <a:avLst/>
          </a:prstGeom>
          <a:solidFill>
            <a:srgbClr val="FFFFFF"/>
          </a:solidFill>
          <a:ln w="9525">
            <a:solidFill>
              <a:srgbClr val="E6E6E6"/>
            </a:solidFill>
            <a:prstDash val="solid"/>
          </a:ln>
        </p:spPr>
      </p:sp>
      <p:sp>
        <p:nvSpPr>
          <p:cNvPr id="49" name="Text 47"/>
          <p:cNvSpPr/>
          <p:nvPr/>
        </p:nvSpPr>
        <p:spPr>
          <a:xfrm>
            <a:off x="5102352" y="3712464"/>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73.89%</a:t>
            </a:r>
            <a:endParaRPr lang="en-US" sz="1300" dirty="0"/>
          </a:p>
        </p:txBody>
      </p:sp>
      <p:sp>
        <p:nvSpPr>
          <p:cNvPr id="50" name="Shape 48"/>
          <p:cNvSpPr/>
          <p:nvPr/>
        </p:nvSpPr>
        <p:spPr>
          <a:xfrm>
            <a:off x="7187184" y="3639312"/>
            <a:ext cx="2157984" cy="521208"/>
          </a:xfrm>
          <a:prstGeom prst="rect">
            <a:avLst/>
          </a:prstGeom>
          <a:solidFill>
            <a:srgbClr val="FFFFFF"/>
          </a:solidFill>
          <a:ln w="9525">
            <a:solidFill>
              <a:srgbClr val="E6E6E6"/>
            </a:solidFill>
            <a:prstDash val="solid"/>
          </a:ln>
        </p:spPr>
      </p:sp>
      <p:sp>
        <p:nvSpPr>
          <p:cNvPr id="51" name="Text 49"/>
          <p:cNvSpPr/>
          <p:nvPr/>
        </p:nvSpPr>
        <p:spPr>
          <a:xfrm>
            <a:off x="7260336" y="3712464"/>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74.03%</a:t>
            </a:r>
            <a:endParaRPr lang="en-US" sz="1300" dirty="0"/>
          </a:p>
        </p:txBody>
      </p:sp>
      <p:sp>
        <p:nvSpPr>
          <p:cNvPr id="52" name="Shape 50"/>
          <p:cNvSpPr/>
          <p:nvPr/>
        </p:nvSpPr>
        <p:spPr>
          <a:xfrm>
            <a:off x="9345168" y="3639312"/>
            <a:ext cx="2157984" cy="521208"/>
          </a:xfrm>
          <a:prstGeom prst="rect">
            <a:avLst/>
          </a:prstGeom>
          <a:solidFill>
            <a:srgbClr val="FFFFFF"/>
          </a:solidFill>
          <a:ln w="9525">
            <a:solidFill>
              <a:srgbClr val="E6E6E6"/>
            </a:solidFill>
            <a:prstDash val="solid"/>
          </a:ln>
        </p:spPr>
      </p:sp>
      <p:sp>
        <p:nvSpPr>
          <p:cNvPr id="53" name="Text 51"/>
          <p:cNvSpPr/>
          <p:nvPr/>
        </p:nvSpPr>
        <p:spPr>
          <a:xfrm>
            <a:off x="9418320" y="3712464"/>
            <a:ext cx="2011680" cy="374904"/>
          </a:xfrm>
          <a:prstGeom prst="rect">
            <a:avLst/>
          </a:prstGeom>
          <a:noFill/>
          <a:ln/>
        </p:spPr>
        <p:txBody>
          <a:bodyPr wrap="square" lIns="0" tIns="0" rIns="0" bIns="0" rtlCol="0" anchor="ctr">
            <a:normAutofit/>
          </a:bodyPr>
          <a:lstStyle/>
          <a:p>
            <a:pPr marL="0" indent="0">
              <a:buNone/>
            </a:pPr>
            <a:r>
              <a:rPr lang="en-US" sz="1300" dirty="0">
                <a:solidFill>
                  <a:srgbClr val="111111"/>
                </a:solidFill>
                <a:latin typeface="Aptos" pitchFamily="34" charset="0"/>
                <a:ea typeface="Aptos" pitchFamily="34" charset="-122"/>
                <a:cs typeface="Aptos" pitchFamily="34" charset="-120"/>
              </a:rPr>
              <a:t>73.96%</a:t>
            </a:r>
            <a:endParaRPr lang="en-US" sz="1300" dirty="0"/>
          </a:p>
        </p:txBody>
      </p:sp>
      <p:sp>
        <p:nvSpPr>
          <p:cNvPr id="54" name="Text 52"/>
          <p:cNvSpPr/>
          <p:nvPr/>
        </p:nvSpPr>
        <p:spPr>
          <a:xfrm>
            <a:off x="777240" y="4590288"/>
            <a:ext cx="4663440" cy="320040"/>
          </a:xfrm>
          <a:prstGeom prst="rect">
            <a:avLst/>
          </a:prstGeom>
          <a:noFill/>
          <a:ln/>
        </p:spPr>
        <p:txBody>
          <a:bodyPr wrap="square" lIns="0" tIns="0" rIns="0" bIns="0" rtlCol="0" anchor="ctr"/>
          <a:lstStyle/>
          <a:p>
            <a:pPr marL="0" indent="0">
              <a:buNone/>
            </a:pPr>
            <a:r>
              <a:rPr lang="en-US" sz="2200" b="1" dirty="0">
                <a:solidFill>
                  <a:srgbClr val="111111"/>
                </a:solidFill>
                <a:latin typeface="Aptos Display" pitchFamily="34" charset="0"/>
                <a:ea typeface="Aptos Display" pitchFamily="34" charset="-122"/>
                <a:cs typeface="Aptos Display" pitchFamily="34" charset="-120"/>
              </a:rPr>
              <a:t>Final average F1: ~75.15%</a:t>
            </a:r>
            <a:endParaRPr lang="en-US" sz="2200" dirty="0"/>
          </a:p>
        </p:txBody>
      </p:sp>
      <p:sp>
        <p:nvSpPr>
          <p:cNvPr id="55" name="Text 53"/>
          <p:cNvSpPr/>
          <p:nvPr/>
        </p:nvSpPr>
        <p:spPr>
          <a:xfrm>
            <a:off x="777240" y="5010912"/>
            <a:ext cx="6126480" cy="237744"/>
          </a:xfrm>
          <a:prstGeom prst="rect">
            <a:avLst/>
          </a:prstGeom>
          <a:noFill/>
          <a:ln/>
        </p:spPr>
        <p:txBody>
          <a:bodyPr wrap="square" lIns="0" tIns="0" rIns="0" bIns="0" rtlCol="0" anchor="ctr"/>
          <a:lstStyle/>
          <a:p>
            <a:pPr marL="0" indent="0">
              <a:buNone/>
            </a:pPr>
            <a:r>
              <a:rPr lang="en-US" sz="1550" dirty="0">
                <a:solidFill>
                  <a:srgbClr val="666666"/>
                </a:solidFill>
                <a:latin typeface="Aptos" pitchFamily="34" charset="0"/>
                <a:ea typeface="Aptos" pitchFamily="34" charset="-122"/>
                <a:cs typeface="Aptos" pitchFamily="34" charset="-120"/>
              </a:rPr>
              <a:t>Recall improves by ~50.08% compared with base dictionaries.</a:t>
            </a:r>
            <a:endParaRPr lang="en-US" sz="1550" dirty="0"/>
          </a:p>
        </p:txBody>
      </p:sp>
      <p:sp>
        <p:nvSpPr>
          <p:cNvPr id="56" name="Text 54"/>
          <p:cNvSpPr/>
          <p:nvPr/>
        </p:nvSpPr>
        <p:spPr>
          <a:xfrm>
            <a:off x="777240" y="5449824"/>
            <a:ext cx="10424160" cy="310896"/>
          </a:xfrm>
          <a:prstGeom prst="rect">
            <a:avLst/>
          </a:prstGeom>
          <a:noFill/>
          <a:ln/>
        </p:spPr>
        <p:txBody>
          <a:bodyPr wrap="square" lIns="0" tIns="0" rIns="0" bIns="0" rtlCol="0" anchor="ctr"/>
          <a:lstStyle/>
          <a:p>
            <a:pPr marL="0" indent="0">
              <a:buNone/>
            </a:pPr>
            <a:endParaRPr lang="en-US" sz="1800" dirty="0"/>
          </a:p>
        </p:txBody>
      </p:sp>
      <p:sp>
        <p:nvSpPr>
          <p:cNvPr id="57" name="Text 55"/>
          <p:cNvSpPr/>
          <p:nvPr/>
        </p:nvSpPr>
        <p:spPr>
          <a:xfrm>
            <a:off x="502920" y="6510528"/>
            <a:ext cx="6217920" cy="164592"/>
          </a:xfrm>
          <a:prstGeom prst="rect">
            <a:avLst/>
          </a:prstGeom>
          <a:noFill/>
          <a:ln/>
        </p:spPr>
        <p:txBody>
          <a:bodyPr wrap="square" lIns="0" tIns="0" rIns="0" bIns="0" rtlCol="0" anchor="ctr"/>
          <a:lstStyle/>
          <a:p>
            <a:pPr marL="0" indent="0">
              <a:buNone/>
            </a:pPr>
            <a:endParaRPr lang="en-US" sz="750" dirty="0"/>
          </a:p>
        </p:txBody>
      </p:sp>
      <p:sp>
        <p:nvSpPr>
          <p:cNvPr id="58" name="Text 56"/>
          <p:cNvSpPr/>
          <p:nvPr/>
        </p:nvSpPr>
        <p:spPr>
          <a:xfrm>
            <a:off x="11356848" y="6473952"/>
            <a:ext cx="320040" cy="164592"/>
          </a:xfrm>
          <a:prstGeom prst="rect">
            <a:avLst/>
          </a:prstGeom>
          <a:noFill/>
          <a:ln/>
        </p:spPr>
        <p:txBody>
          <a:bodyPr wrap="square" lIns="0" tIns="0" rIns="0" bIns="0" rtlCol="0" anchor="ctr"/>
          <a:lstStyle/>
          <a:p>
            <a:pPr marL="0" indent="0" algn="r">
              <a:buNone/>
            </a:pP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619</Words>
  <Application>Microsoft Office PowerPoint</Application>
  <PresentationFormat>Widescreen</PresentationFormat>
  <Paragraphs>124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NEE-FSM Paper Overview</dc:title>
  <dc:subject>Named Entity Extraction for Food Safety Events Monitoring</dc:subject>
  <dc:creator>OpenAI</dc:creator>
  <cp:lastModifiedBy>Yuvraj Verma</cp:lastModifiedBy>
  <cp:revision>5</cp:revision>
  <dcterms:created xsi:type="dcterms:W3CDTF">2026-06-18T14:39:25Z</dcterms:created>
  <dcterms:modified xsi:type="dcterms:W3CDTF">2026-06-19T04:01:22Z</dcterms:modified>
</cp:coreProperties>
</file>